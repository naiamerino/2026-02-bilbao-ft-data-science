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677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243013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Prediciendo el Tenis Femenino con Machine Learning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457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modelo entrenado sobre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44.000 partidos históricos de la WTA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predecir resultados y simular torneos completos como Roland Garros.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629248"/>
            <a:ext cx="1573932" cy="266402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81174" y="3671739"/>
            <a:ext cx="14038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DE BOOTCAMP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140893" y="3624486"/>
            <a:ext cx="108212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26A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2230710" y="3671739"/>
            <a:ext cx="9024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WTA · 2007–2026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0871" y="387102"/>
            <a:ext cx="4831259" cy="1183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 Problema: ¿Puede un algoritmo competir con las casas de apuestas?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870871" y="1739354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casas de apuestas aciertan el </a:t>
            </a:r>
            <a:r>
              <a:rPr lang="en-US" sz="9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68% de los partidos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tenis. Tienen analistas dedicados e información privilegiada sobre lesiones. La pregunta es: ¿puede un modelo entrenado solo con datos públicos acercarse a eso?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870871" y="2438698"/>
            <a:ext cx="2359372" cy="1296739"/>
          </a:xfrm>
          <a:prstGeom prst="roundRect">
            <a:avLst>
              <a:gd name="adj" fmla="val 408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001839" y="2569666"/>
            <a:ext cx="180885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Deporte individual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1839" y="2834357"/>
            <a:ext cx="20974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lesión o un mal día pueden tumbar a la favorita sin aviso.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42683" y="2438698"/>
            <a:ext cx="2359447" cy="1296739"/>
          </a:xfrm>
          <a:prstGeom prst="roundRect">
            <a:avLst>
              <a:gd name="adj" fmla="val 408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473651" y="2569666"/>
            <a:ext cx="2097509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Matchups específicos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3651" y="3031629"/>
            <a:ext cx="20975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estilo de juego importa más que el ranking en muchos enfrentamientos.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70871" y="3847877"/>
            <a:ext cx="4831259" cy="908521"/>
          </a:xfrm>
          <a:prstGeom prst="roundRect">
            <a:avLst>
              <a:gd name="adj" fmla="val 583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001839" y="397884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Datos públicos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01839" y="4243536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información médica ni análisis humano. Solo lo que cualquiera puede consultar.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3985"/>
            <a:ext cx="72792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Los Datos: 44.446 Partidos WTA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61331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44K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24346" y="2606204"/>
            <a:ext cx="21426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Partidos históricos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91271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Desde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2007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actualizados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diariamente</a:t>
            </a:r>
            <a:endParaRPr lang="en-US" sz="11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Fuente: Kaggle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961331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19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532510" y="2606204"/>
            <a:ext cx="2078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Años de cobertura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91271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completos de casi dos décadas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961331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339855" y="2606204"/>
            <a:ext cx="20169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Columnas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88196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Jugadoras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ranking,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superficie,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ronda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torneo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cuotas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apuestas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72704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dataset incluye resultados, rankings oficiales, tipo de superficie (tierra, hierba, pista dura), ronda del torneo y cuotas de apuestas históricas. Una base sólida para entrenar un modelo robusto.</a:t>
            </a:r>
            <a:endParaRPr lang="en-US" sz="11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B34352-7C81-7AA3-61E3-F46F3FB6EE00}"/>
              </a:ext>
            </a:extLst>
          </p:cNvPr>
          <p:cNvSpPr txBox="1"/>
          <p:nvPr/>
        </p:nvSpPr>
        <p:spPr>
          <a:xfrm>
            <a:off x="496119" y="3698811"/>
            <a:ext cx="7421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partir de estos 44.446 partidos históricos, se construyeron </a:t>
            </a:r>
            <a:r>
              <a:rPr lang="es-ES" dirty="0" err="1"/>
              <a:t>features</a:t>
            </a:r>
            <a:r>
              <a:rPr lang="es-ES" dirty="0"/>
              <a:t> (variables predictivas) siguiendo un principio fundamental: </a:t>
            </a:r>
            <a:r>
              <a:rPr lang="es-ES" b="1" dirty="0"/>
              <a:t>corte temporal estricto</a:t>
            </a:r>
            <a:r>
              <a:rPr lang="es-ES" dirty="0"/>
              <a:t>. Para cada partido, solo se usa información disponible </a:t>
            </a:r>
            <a:r>
              <a:rPr lang="es-ES" i="1" dirty="0"/>
              <a:t>antes</a:t>
            </a:r>
            <a:r>
              <a:rPr lang="es-ES" dirty="0"/>
              <a:t> de la fecha de ese partido. Esto evita </a:t>
            </a:r>
            <a:r>
              <a:rPr lang="es-ES" dirty="0" err="1"/>
              <a:t>leakage</a:t>
            </a:r>
            <a:r>
              <a:rPr lang="es-ES" dirty="0"/>
              <a:t> de datos y garantiza que el modelo simule decisiones reales.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386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 Solución: Probabilidad y Simulación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848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714202"/>
            <a:ext cx="35010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Predicción de partido individual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077417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cada enfrentamiento, el modelo calcula una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probabilidad de victoria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cada jugadora basada en su historial completo.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2725936"/>
            <a:ext cx="5177582" cy="1056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474988" y="2931393"/>
            <a:ext cx="37084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Simulación de torneos completos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74988" y="329460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Esa probabilidad alimenta un simulador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Monte Carlo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repite el cuadro del torneo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10.000 veces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devuelve cuántas veces gana cada jugadora.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988" y="3907706"/>
            <a:ext cx="5177582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4127525"/>
            <a:ext cx="177180" cy="1417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5685" y="4084886"/>
            <a:ext cx="4575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no solo quién gana, sino con qué frecuencia lo haría.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0799"/>
            <a:ext cx="7336408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¿Qué es el ELO y por qué importa más que el ranking?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2312045"/>
            <a:ext cx="35384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ELO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una puntuación dinámica que sube o baja según ganas o pierdes y, sobre todo,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según la calidad del rival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03759" y="2681436"/>
            <a:ext cx="353846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diferencia del ranking oficial —que acumula puntos por ronda alcanzada—, el ELO valora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victoria individual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penaliza las derrotas frente a rivales débiles.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03759" y="3217590"/>
            <a:ext cx="3538463" cy="379958"/>
          </a:xfrm>
          <a:prstGeom prst="roundRect">
            <a:avLst>
              <a:gd name="adj" fmla="val 11753"/>
            </a:avLst>
          </a:prstGeom>
          <a:solidFill>
            <a:srgbClr val="C1F1E5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22" y="3371701"/>
            <a:ext cx="132904" cy="106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9189" y="3323853"/>
            <a:ext cx="30867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la métrica más informativa disponible con datos públicos.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392" y="1194569"/>
            <a:ext cx="3538463" cy="353846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392" y="1194569"/>
            <a:ext cx="3538463" cy="3538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4709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Las Variables que Más Pesan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802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 diferencial ELO domina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brecha de ELO global entre las dos jugadoras explica por sí sola el </a:t>
            </a:r>
            <a:r>
              <a:rPr lang="en-US" sz="11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36% de la capacidad predictiva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modelo.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73337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siguen el ELO específico por superficie y la diferencia de ranking oficial. La forma reciente y el historial en cada superficie aportan señal adicional valiosa.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05172"/>
            <a:ext cx="6419404" cy="58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 Modelo: De la Exploración al Resultado Final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629" y="1008683"/>
            <a:ext cx="5220742" cy="339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0847" y="1227731"/>
            <a:ext cx="1547063" cy="36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Fase 1: Random Forest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090847" y="1640174"/>
            <a:ext cx="1547063" cy="239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Buen rendimiento base con tuning de hiperparámetros.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798393" y="3529067"/>
            <a:ext cx="1547063" cy="36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Fase 2: Clustering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98393" y="3941509"/>
            <a:ext cx="1547063" cy="239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Perfiles por servicio explorados; descartado.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37234" y="1408275"/>
            <a:ext cx="1484373" cy="18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Fase 3: XGBoost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05940" y="1640174"/>
            <a:ext cx="1547063" cy="239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Optimizado con tuning; modelo final seleccionado.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62298" y="4468564"/>
            <a:ext cx="641940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probaron dos algoritmos principales con ajuste de hiperparámetros. También se exploró un clustering de perfiles de jugadoras basado en estadísticas de servicio, pero no mejoró las predicciones y se descartó. El </a:t>
            </a:r>
            <a:r>
              <a:rPr lang="en-US" sz="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resultó ser el modelo final por su mayor precisión y capacidad para capturar relaciones no lineales en los datos.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58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Resultados: A Solo 2 Puntos de las Casas de Apuestas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662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0891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Contexto para interpretar el resultado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293590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puro: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predecir siempre a la mejor rankeada acierta el 62,7%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Nuestro modelo: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66,3% de accuracy y AUC de 0,724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Casas de apuestas: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68,5% y AUC de 0,757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459435"/>
            <a:ext cx="3902943" cy="1056010"/>
          </a:xfrm>
          <a:prstGeom prst="roundRect">
            <a:avLst>
              <a:gd name="adj" fmla="val 5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67925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63661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modelo supera claramente el baseline y se queda a </a:t>
            </a: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2 puntos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profesionales con información no pública.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97595"/>
            <a:ext cx="44504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Veámoslo en Acción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6531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en vivo de la aplicación Streamlit: predicción de partido individual y simulación completa del cuadro de Roland Garros.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266280"/>
            <a:ext cx="4722763" cy="1879550"/>
          </a:xfrm>
          <a:prstGeom prst="roundRect">
            <a:avLst>
              <a:gd name="adj" fmla="val 316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929881" y="2271043"/>
            <a:ext cx="4713238" cy="1048420"/>
          </a:xfrm>
          <a:prstGeom prst="roundRect">
            <a:avLst>
              <a:gd name="adj" fmla="val 5679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071640" y="2412802"/>
            <a:ext cx="250931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🎾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Predictor de partido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71640" y="2724076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Selecciona dos jugadoras y obtén la probabilidad de victoria al instante.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9881" y="3319463"/>
            <a:ext cx="4713238" cy="821606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929881" y="3319463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071640" y="3461221"/>
            <a:ext cx="251214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🏆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Simulador de torneo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772495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10.000 repeticiones del cuadro completo. ¿Quién gana más veces?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97"/>
            <a:ext cx="69993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Conclusiones y Próximos Pasos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049685"/>
            <a:ext cx="4107135" cy="3699718"/>
          </a:xfrm>
          <a:prstGeom prst="roundRect">
            <a:avLst>
              <a:gd name="adj" fmla="val 275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35781" y="1191444"/>
            <a:ext cx="382361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 que el modelo no puede capturar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776115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 físico real el día del partido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Lesiones no declaradas públicamente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Factores del momento: presión, clima, público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68322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transparencia sobre las limitaciones es parte del rigor del proyecto.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191444"/>
            <a:ext cx="31390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Líneas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3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futuras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576760"/>
            <a:ext cx="212601" cy="212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1572369"/>
            <a:ext cx="26771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Mejoras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del </a:t>
            </a:r>
            <a:r>
              <a:rPr lang="en-US" sz="13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modelo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10398" y="193558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Incorporar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otras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variables (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inactividad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momentum y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tendencia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ranking,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ponderaciones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variables,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estadísticas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juego…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677120"/>
            <a:ext cx="212601" cy="212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0398" y="2672730"/>
            <a:ext cx="26088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Optimizar la simulación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10398" y="303594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Reducir el tiempo de cómputo para hacerla más ágil en la app.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777481"/>
            <a:ext cx="212601" cy="2126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0398" y="3773091"/>
            <a:ext cx="26288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Calibrar probabilidades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210398" y="413630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Ajustar las salidas del modelo para que la simulación Monte Carlo sea más precisa.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f8505da-c265-4c9b-8f79-5eb1c5d317b9}" enabled="1" method="Standard" siteId="{b984e578-dd3f-4fcd-afea-1c381ab634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820</Words>
  <Application>Microsoft Office PowerPoint</Application>
  <PresentationFormat>Presentación en pantalla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Open Sans</vt:lpstr>
      <vt:lpstr>Unbounded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NaiaJon</dc:creator>
  <cp:lastModifiedBy>Santiago, Jon</cp:lastModifiedBy>
  <cp:revision>2</cp:revision>
  <dcterms:created xsi:type="dcterms:W3CDTF">2026-05-11T14:34:40Z</dcterms:created>
  <dcterms:modified xsi:type="dcterms:W3CDTF">2026-05-11T17:26:37Z</dcterms:modified>
</cp:coreProperties>
</file>