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hMeLAMiz0oFTjcs/ZVaoGPupCM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a264c5d9f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a264c5d9f9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3" name="Google Shape;93;ga264c5d9f9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ad606383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ad6063839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9" name="Google Shape;99;gad6063839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d6063839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ad60638395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9" name="Google Shape;109;gad60638395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a2de8da6d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a2de8da6d3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7" name="Google Shape;117;ga2de8da6d3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a2de8da6d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a2de8da6d3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5" name="Google Shape;125;ga2de8da6d3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a2de8da6d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a2de8da6d3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5" name="Google Shape;125;ga2de8da6d3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0754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ad6063839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ad60638395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35" name="Google Shape;135;gad60638395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a2de8da6d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a2de8da6d3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44" name="Google Shape;144;ga2de8da6d3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adc851a12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adc851a12d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2" name="Google Shape;152;gadc851a12d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a2de8da6d3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a2de8da6d3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0" name="Google Shape;160;ga2de8da6d3_0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8" name="Google Shape;16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etosa.io/ev/image-kernel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2276518" y="2330166"/>
            <a:ext cx="7638964" cy="219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s-ES">
                <a:solidFill>
                  <a:srgbClr val="FF0000"/>
                </a:solidFill>
              </a:rPr>
              <a:t>Neural Networks - Convolutional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48BCF04-48F0-BE4D-55EE-EB25F1CE8437}"/>
              </a:ext>
            </a:extLst>
          </p:cNvPr>
          <p:cNvSpPr txBox="1"/>
          <p:nvPr/>
        </p:nvSpPr>
        <p:spPr>
          <a:xfrm>
            <a:off x="4074160" y="4429760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Normalmente para tratar imágenes.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ga264c5d9f9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9689" y="1897925"/>
            <a:ext cx="7072625" cy="397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d60638395_0_0"/>
          <p:cNvSpPr txBox="1">
            <a:spLocks noGrp="1"/>
          </p:cNvSpPr>
          <p:nvPr>
            <p:ph type="title"/>
          </p:nvPr>
        </p:nvSpPr>
        <p:spPr>
          <a:xfrm>
            <a:off x="525275" y="443350"/>
            <a:ext cx="105570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s-ES">
                <a:solidFill>
                  <a:srgbClr val="FF0000"/>
                </a:solidFill>
              </a:rPr>
              <a:t>Dos dimensiones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2" name="Google Shape;102;gad60638395_0_0"/>
          <p:cNvSpPr/>
          <p:nvPr/>
        </p:nvSpPr>
        <p:spPr>
          <a:xfrm>
            <a:off x="598800" y="1294350"/>
            <a:ext cx="10705200" cy="14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 </a:t>
            </a:r>
            <a:r>
              <a:rPr lang="es-E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pixels</a:t>
            </a: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entran como un vector, en una red neuronal normal. Independiza los </a:t>
            </a:r>
            <a:r>
              <a:rPr lang="es-E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pixels</a:t>
            </a: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y perderemos la relación 2D, formas, estructuras y patrones.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Las redes convolucionales se crean para sacarle partido  a la estructura espacial 2D de una imagen.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gad6063839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9925" y="3094075"/>
            <a:ext cx="3512000" cy="286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ad60638395_0_0"/>
          <p:cNvSpPr/>
          <p:nvPr/>
        </p:nvSpPr>
        <p:spPr>
          <a:xfrm>
            <a:off x="3791263" y="4400938"/>
            <a:ext cx="2232900" cy="255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gad6063839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275" y="2886813"/>
            <a:ext cx="2918700" cy="164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5;gad60638395_0_0">
            <a:extLst>
              <a:ext uri="{FF2B5EF4-FFF2-40B4-BE49-F238E27FC236}">
                <a16:creationId xmlns:a16="http://schemas.microsoft.com/office/drawing/2014/main" id="{EA886905-6578-471F-9FA3-6BEC29AB3CD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49043" b="45401"/>
          <a:stretch/>
        </p:blipFill>
        <p:spPr>
          <a:xfrm>
            <a:off x="444001" y="5726422"/>
            <a:ext cx="1487300" cy="896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5;gad60638395_0_0">
            <a:extLst>
              <a:ext uri="{FF2B5EF4-FFF2-40B4-BE49-F238E27FC236}">
                <a16:creationId xmlns:a16="http://schemas.microsoft.com/office/drawing/2014/main" id="{FA0FBBA9-A2C7-4592-BCF5-99A40443E6A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9042" b="45401"/>
          <a:stretch/>
        </p:blipFill>
        <p:spPr>
          <a:xfrm>
            <a:off x="2152896" y="4688250"/>
            <a:ext cx="1487301" cy="896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5;gad60638395_0_0">
            <a:extLst>
              <a:ext uri="{FF2B5EF4-FFF2-40B4-BE49-F238E27FC236}">
                <a16:creationId xmlns:a16="http://schemas.microsoft.com/office/drawing/2014/main" id="{2988A096-F0AE-4971-BF20-24DFB1DED1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45400" r="43595"/>
          <a:stretch/>
        </p:blipFill>
        <p:spPr>
          <a:xfrm>
            <a:off x="2147049" y="5726422"/>
            <a:ext cx="1487301" cy="880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5;gad60638395_0_0">
            <a:extLst>
              <a:ext uri="{FF2B5EF4-FFF2-40B4-BE49-F238E27FC236}">
                <a16:creationId xmlns:a16="http://schemas.microsoft.com/office/drawing/2014/main" id="{784F5C93-EF4E-490C-A616-C0DDB30D592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9043" t="45401"/>
          <a:stretch/>
        </p:blipFill>
        <p:spPr>
          <a:xfrm>
            <a:off x="448159" y="4688250"/>
            <a:ext cx="1487300" cy="89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ad60638395_0_8"/>
          <p:cNvSpPr txBox="1">
            <a:spLocks noGrp="1"/>
          </p:cNvSpPr>
          <p:nvPr>
            <p:ph type="title"/>
          </p:nvPr>
        </p:nvSpPr>
        <p:spPr>
          <a:xfrm>
            <a:off x="525275" y="443350"/>
            <a:ext cx="105570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s-ES">
                <a:solidFill>
                  <a:srgbClr val="FF0000"/>
                </a:solidFill>
              </a:rPr>
              <a:t>Imágenes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12" name="Google Shape;112;gad60638395_0_8"/>
          <p:cNvSpPr/>
          <p:nvPr/>
        </p:nvSpPr>
        <p:spPr>
          <a:xfrm>
            <a:off x="598800" y="1294350"/>
            <a:ext cx="107052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realizar predicciones sobre datos espaciales lo mejor es acudir a RRNN, ya que el espacio dimensional es muy grande (todos los pixels), y con técnicas como las convoluciones y el pooling, podremos trabajar con estos datos.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interpretamos el problema?</a:t>
            </a:r>
            <a:endParaRPr sz="19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Cada pixel es una entrada del algoritmo. Una neurona de entrada. Ahora manejamos el problema en 2D.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Después de la entrada habrá una serie de hidden layers mediante las que transformaremos y reduciremos la dimensionalidad de la entrada. En esta etapa se aplica lo que se denomina convoluciones en la imagen, que no son más que transformaciones.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Después habrá una serie de capas de neuronas con las que entrenaremos el output de las convoluciones.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gad60638395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7150" y="4625050"/>
            <a:ext cx="6977683" cy="186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1D29D56-6594-6E70-8DFA-9F47066475D5}"/>
              </a:ext>
            </a:extLst>
          </p:cNvPr>
          <p:cNvSpPr txBox="1"/>
          <p:nvPr/>
        </p:nvSpPr>
        <p:spPr>
          <a:xfrm>
            <a:off x="9723120" y="4950170"/>
            <a:ext cx="2082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Aquí entraría a la red neuronal pero cada pixel tiene información dimensional.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a2de8da6d3_0_15"/>
          <p:cNvSpPr txBox="1">
            <a:spLocks noGrp="1"/>
          </p:cNvSpPr>
          <p:nvPr>
            <p:ph type="title"/>
          </p:nvPr>
        </p:nvSpPr>
        <p:spPr>
          <a:xfrm>
            <a:off x="525275" y="443350"/>
            <a:ext cx="105570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s-ES">
                <a:solidFill>
                  <a:srgbClr val="FF0000"/>
                </a:solidFill>
              </a:rPr>
              <a:t>Input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0" name="Google Shape;120;ga2de8da6d3_0_15"/>
          <p:cNvSpPr/>
          <p:nvPr/>
        </p:nvSpPr>
        <p:spPr>
          <a:xfrm>
            <a:off x="598800" y="1294350"/>
            <a:ext cx="10705200" cy="23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Tendremos que poner los datos en el formato de entrada de la red, que será un tensor, un array de numpy compuesto por la altura x anchura de las imágenes x los canales. Los canales podrían ser R,G,B o escala de grises.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Normalizar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Otro punto importante es normalizar los datos para mejorar los tiempos de entrenamiento y el performance del modelo. Dependerá de la codificación de la imagen, pero lo habitual es que los canales de colores vayan de 0 a 255.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ga2de8da6d3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4413" y="3932175"/>
            <a:ext cx="7618737" cy="186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BBBFCD0-3020-9D2B-1C14-446051601541}"/>
              </a:ext>
            </a:extLst>
          </p:cNvPr>
          <p:cNvSpPr txBox="1"/>
          <p:nvPr/>
        </p:nvSpPr>
        <p:spPr>
          <a:xfrm>
            <a:off x="2976880" y="335280"/>
            <a:ext cx="6636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Hasta ahora teníamos imágenes en blanco y negro, un canal de color. Normalmente tendremos  tres! </a:t>
            </a:r>
            <a:endParaRPr lang="es-E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a2de8da6d3_0_24"/>
          <p:cNvSpPr txBox="1">
            <a:spLocks noGrp="1"/>
          </p:cNvSpPr>
          <p:nvPr>
            <p:ph type="title"/>
          </p:nvPr>
        </p:nvSpPr>
        <p:spPr>
          <a:xfrm>
            <a:off x="525275" y="443350"/>
            <a:ext cx="105570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s-ES">
                <a:solidFill>
                  <a:srgbClr val="FF0000"/>
                </a:solidFill>
              </a:rPr>
              <a:t>Convolutional layer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8" name="Google Shape;128;ga2de8da6d3_0_24"/>
          <p:cNvSpPr/>
          <p:nvPr/>
        </p:nvSpPr>
        <p:spPr>
          <a:xfrm>
            <a:off x="598800" y="1294350"/>
            <a:ext cx="10705200" cy="11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es una convolución? preprocesado o transformación que se aplica a la imagen para destacar las características predictivas de la misma. Se trata de aplicarle un filtro a la imagen.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ga2de8da6d3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9975" y="2711925"/>
            <a:ext cx="5467226" cy="228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a2de8da6d3_0_24"/>
          <p:cNvSpPr/>
          <p:nvPr/>
        </p:nvSpPr>
        <p:spPr>
          <a:xfrm>
            <a:off x="5723263" y="5360075"/>
            <a:ext cx="5112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</a:t>
            </a:r>
            <a:r>
              <a:rPr lang="es-ES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esta página</a:t>
            </a:r>
            <a:r>
              <a:rPr lang="es-E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podrás jugar con diferentes convoluciones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a2de8da6d3_0_24"/>
          <p:cNvSpPr/>
          <p:nvPr/>
        </p:nvSpPr>
        <p:spPr>
          <a:xfrm>
            <a:off x="598800" y="2285250"/>
            <a:ext cx="4233900" cy="3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convolución se define por: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Matriz o kernel</a:t>
            </a: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Tendrá que ser de dimensiones menor a la imagen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Padding</a:t>
            </a: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márgenes por fuera de la imagen. Se usa para que el centro del kernel coincida con el pixel en cuestión.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Stride</a:t>
            </a: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saltos de la matriz entre un pixel y otro.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B4089B5-6210-E6EB-6F4D-BEF685EBA420}"/>
              </a:ext>
            </a:extLst>
          </p:cNvPr>
          <p:cNvSpPr txBox="1"/>
          <p:nvPr/>
        </p:nvSpPr>
        <p:spPr>
          <a:xfrm>
            <a:off x="3870960" y="2023640"/>
            <a:ext cx="2367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chemeClr val="bg1"/>
                </a:solidFill>
              </a:rPr>
              <a:t>Kernel:</a:t>
            </a:r>
            <a:r>
              <a:rPr lang="es-ES" dirty="0" err="1">
                <a:solidFill>
                  <a:schemeClr val="bg1"/>
                </a:solidFill>
              </a:rPr>
              <a:t>Nosotros</a:t>
            </a:r>
            <a:r>
              <a:rPr lang="es-ES" dirty="0">
                <a:solidFill>
                  <a:schemeClr val="bg1"/>
                </a:solidFill>
              </a:rPr>
              <a:t> usaremos 3x3 pero podrían ser otros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a2de8da6d3_0_24"/>
          <p:cNvSpPr txBox="1">
            <a:spLocks noGrp="1"/>
          </p:cNvSpPr>
          <p:nvPr>
            <p:ph type="title"/>
          </p:nvPr>
        </p:nvSpPr>
        <p:spPr>
          <a:xfrm>
            <a:off x="525275" y="443350"/>
            <a:ext cx="105570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s-ES">
                <a:solidFill>
                  <a:srgbClr val="FF0000"/>
                </a:solidFill>
              </a:rPr>
              <a:t>Convolutional layer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FBBF3A3-59A2-48C4-BE04-294C2A3ABA1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589" y="1500188"/>
            <a:ext cx="8736821" cy="4914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BBB6504-B3A3-5EFD-D500-2814C02BDCB7}"/>
              </a:ext>
            </a:extLst>
          </p:cNvPr>
          <p:cNvSpPr txBox="1"/>
          <p:nvPr/>
        </p:nvSpPr>
        <p:spPr>
          <a:xfrm>
            <a:off x="5516880" y="214974"/>
            <a:ext cx="33930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bg1"/>
                </a:solidFill>
              </a:rPr>
              <a:t>Ej</a:t>
            </a:r>
            <a:r>
              <a:rPr lang="es-ES" dirty="0">
                <a:solidFill>
                  <a:schemeClr val="bg1"/>
                </a:solidFill>
              </a:rPr>
              <a:t>: </a:t>
            </a:r>
            <a:r>
              <a:rPr lang="es-ES" dirty="0" err="1">
                <a:solidFill>
                  <a:schemeClr val="bg1"/>
                </a:solidFill>
              </a:rPr>
              <a:t>Kernel</a:t>
            </a:r>
            <a:r>
              <a:rPr lang="es-ES" dirty="0">
                <a:solidFill>
                  <a:schemeClr val="bg1"/>
                </a:solidFill>
              </a:rPr>
              <a:t> #1: pasa pixel a pixel y cambia el valor del pixel central en función del resto. En este caso ignora (0s) unos, otros los incluye (1) y otros en negativo (-1)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4357C06-4757-6FBF-6ED0-E7B43E2E8050}"/>
              </a:ext>
            </a:extLst>
          </p:cNvPr>
          <p:cNvSpPr txBox="1"/>
          <p:nvPr/>
        </p:nvSpPr>
        <p:spPr>
          <a:xfrm>
            <a:off x="9154160" y="213360"/>
            <a:ext cx="29159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En general guarda información de los </a:t>
            </a:r>
            <a:r>
              <a:rPr lang="es-ES" dirty="0" err="1">
                <a:solidFill>
                  <a:schemeClr val="bg1"/>
                </a:solidFill>
              </a:rPr>
              <a:t>pixels</a:t>
            </a:r>
            <a:r>
              <a:rPr lang="es-ES" dirty="0">
                <a:solidFill>
                  <a:schemeClr val="bg1"/>
                </a:solidFill>
              </a:rPr>
              <a:t> de alrededor y los almacena</a:t>
            </a:r>
          </a:p>
        </p:txBody>
      </p:sp>
    </p:spTree>
    <p:extLst>
      <p:ext uri="{BB962C8B-B14F-4D97-AF65-F5344CB8AC3E}">
        <p14:creationId xmlns:p14="http://schemas.microsoft.com/office/powerpoint/2010/main" val="1930754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ad60638395_0_18"/>
          <p:cNvSpPr txBox="1">
            <a:spLocks noGrp="1"/>
          </p:cNvSpPr>
          <p:nvPr>
            <p:ph type="title"/>
          </p:nvPr>
        </p:nvSpPr>
        <p:spPr>
          <a:xfrm>
            <a:off x="525275" y="443350"/>
            <a:ext cx="105570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s-ES">
                <a:solidFill>
                  <a:srgbClr val="FF0000"/>
                </a:solidFill>
              </a:rPr>
              <a:t>¿Qué filtro defino?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38" name="Google Shape;138;gad60638395_0_18"/>
          <p:cNvSpPr/>
          <p:nvPr/>
        </p:nvSpPr>
        <p:spPr>
          <a:xfrm>
            <a:off x="598800" y="1294350"/>
            <a:ext cx="10705200" cy="11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lo decicimos nosotros. Probamos varios filtros aleatorios. La red los elige aleatoriamente, y crea features nuevas. Se va entrenando la red con esas features, ajustando el tipo de filtro que mejor prediga.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gad60638395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8926" y="2624150"/>
            <a:ext cx="3721550" cy="329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ad60638395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3023" y="2169050"/>
            <a:ext cx="2816800" cy="455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29F1B2B-3022-F819-0DEA-CF39CD335411}"/>
              </a:ext>
            </a:extLst>
          </p:cNvPr>
          <p:cNvSpPr txBox="1"/>
          <p:nvPr/>
        </p:nvSpPr>
        <p:spPr>
          <a:xfrm>
            <a:off x="6679503" y="342100"/>
            <a:ext cx="52889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Con cada </a:t>
            </a:r>
            <a:r>
              <a:rPr lang="es-ES" dirty="0" err="1">
                <a:solidFill>
                  <a:schemeClr val="bg1"/>
                </a:solidFill>
              </a:rPr>
              <a:t>kernel</a:t>
            </a:r>
            <a:r>
              <a:rPr lang="es-ES" dirty="0">
                <a:solidFill>
                  <a:schemeClr val="bg1"/>
                </a:solidFill>
              </a:rPr>
              <a:t> lo que hago es generar una imagen nueva. Si paso 50 </a:t>
            </a:r>
            <a:r>
              <a:rPr lang="es-ES" dirty="0" err="1">
                <a:solidFill>
                  <a:schemeClr val="bg1"/>
                </a:solidFill>
              </a:rPr>
              <a:t>kernels</a:t>
            </a:r>
            <a:r>
              <a:rPr lang="es-ES" dirty="0">
                <a:solidFill>
                  <a:schemeClr val="bg1"/>
                </a:solidFill>
              </a:rPr>
              <a:t> tengo 50 imágenes: por eso se combinan con técnicas de </a:t>
            </a:r>
            <a:r>
              <a:rPr lang="es-ES" dirty="0" err="1">
                <a:solidFill>
                  <a:schemeClr val="bg1"/>
                </a:solidFill>
              </a:rPr>
              <a:t>pooling</a:t>
            </a:r>
            <a:r>
              <a:rPr lang="es-ES" dirty="0">
                <a:solidFill>
                  <a:schemeClr val="bg1"/>
                </a:solidFill>
              </a:rPr>
              <a:t> para reducir dimensionalidad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a2de8da6d3_0_7"/>
          <p:cNvSpPr txBox="1">
            <a:spLocks noGrp="1"/>
          </p:cNvSpPr>
          <p:nvPr>
            <p:ph type="title"/>
          </p:nvPr>
        </p:nvSpPr>
        <p:spPr>
          <a:xfrm>
            <a:off x="525275" y="443350"/>
            <a:ext cx="105570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s-ES">
                <a:solidFill>
                  <a:srgbClr val="FF0000"/>
                </a:solidFill>
              </a:rPr>
              <a:t>Pooling layers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47" name="Google Shape;147;ga2de8da6d3_0_7"/>
          <p:cNvSpPr/>
          <p:nvPr/>
        </p:nvSpPr>
        <p:spPr>
          <a:xfrm>
            <a:off x="598800" y="1294350"/>
            <a:ext cx="107052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Las </a:t>
            </a:r>
            <a:r>
              <a:rPr lang="es-E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pooling</a:t>
            </a: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layers</a:t>
            </a: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 encargan de realizar un </a:t>
            </a:r>
            <a:r>
              <a:rPr lang="es-ES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submuestreo</a:t>
            </a: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sus inputs, de cara a reducir la dimensionalidad, el uso de memoria y el número de parámetros.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Estas capas funcionan como </a:t>
            </a:r>
            <a:r>
              <a:rPr lang="es-E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agregadoras</a:t>
            </a: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normalmente con el máximo de una matriz. En el siguiente ejemplo calcula el máximo dentro de una matriz de 2x2.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ga2de8da6d3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4475" y="3505850"/>
            <a:ext cx="6438601" cy="26734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13E8B22-25DD-883E-E1AD-DB3D5B35B36A}"/>
              </a:ext>
            </a:extLst>
          </p:cNvPr>
          <p:cNvSpPr txBox="1"/>
          <p:nvPr/>
        </p:nvSpPr>
        <p:spPr>
          <a:xfrm>
            <a:off x="5537200" y="2651760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Podría ser también con la media u otro valor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adc851a12d_0_3"/>
          <p:cNvSpPr txBox="1">
            <a:spLocks noGrp="1"/>
          </p:cNvSpPr>
          <p:nvPr>
            <p:ph type="title"/>
          </p:nvPr>
        </p:nvSpPr>
        <p:spPr>
          <a:xfrm>
            <a:off x="525275" y="443350"/>
            <a:ext cx="105570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s-ES">
                <a:solidFill>
                  <a:srgbClr val="FF0000"/>
                </a:solidFill>
              </a:rPr>
              <a:t>Fully connected layers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55" name="Google Shape;155;gadc851a12d_0_3"/>
          <p:cNvSpPr/>
          <p:nvPr/>
        </p:nvSpPr>
        <p:spPr>
          <a:xfrm>
            <a:off x="598800" y="1294350"/>
            <a:ext cx="107052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Tras una serie de capas convolucionales, las features se aplanan y entran como un vector 1D a una  fully connected layers, que son las capas de neuronas que ya conocemos.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gadc851a12d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1950" y="2341575"/>
            <a:ext cx="4823650" cy="407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2de8da6d3_0_33"/>
          <p:cNvSpPr txBox="1">
            <a:spLocks noGrp="1"/>
          </p:cNvSpPr>
          <p:nvPr>
            <p:ph type="title"/>
          </p:nvPr>
        </p:nvSpPr>
        <p:spPr>
          <a:xfrm>
            <a:off x="525275" y="443350"/>
            <a:ext cx="105570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s-ES">
                <a:solidFill>
                  <a:srgbClr val="FF0000"/>
                </a:solidFill>
              </a:rPr>
              <a:t>Convolutional arquitecture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63" name="Google Shape;163;ga2de8da6d3_0_33"/>
          <p:cNvSpPr/>
          <p:nvPr/>
        </p:nvSpPr>
        <p:spPr>
          <a:xfrm>
            <a:off x="598800" y="1294350"/>
            <a:ext cx="107052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convolutional + max pooling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capa convolucional detecta features locales interesantes, mientras que la max pooling focaliza la atención en esas features, reduciendo la dimensionalidad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ga2de8da6d3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4825" y="3102100"/>
            <a:ext cx="7913161" cy="267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>
            <a:off x="4265295" y="2766218"/>
            <a:ext cx="3661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accent1"/>
                </a:solidFill>
              </a:rPr>
              <a:t>Preguntas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6f8505da-c265-4c9b-8f79-5eb1c5d317b9}" enabled="1" method="Standard" siteId="{b984e578-dd3f-4fcd-afea-1c381ab634f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701</Words>
  <Application>Microsoft Office PowerPoint</Application>
  <PresentationFormat>Panorámica</PresentationFormat>
  <Paragraphs>58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Neural Networks - Convolutional</vt:lpstr>
      <vt:lpstr>Presentación de PowerPoint</vt:lpstr>
      <vt:lpstr>Dos dimensiones</vt:lpstr>
      <vt:lpstr>Imágenes</vt:lpstr>
      <vt:lpstr>Input</vt:lpstr>
      <vt:lpstr>Convolutional layer</vt:lpstr>
      <vt:lpstr>Convolutional layer</vt:lpstr>
      <vt:lpstr>¿Qué filtro defino?</vt:lpstr>
      <vt:lpstr>Pooling layers</vt:lpstr>
      <vt:lpstr>Fully connected layers</vt:lpstr>
      <vt:lpstr>Convolutional arquitecture</vt:lpstr>
      <vt:lpstr>Preguntas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Networks - Convolutional</dc:title>
  <dc:creator>Gabriel VT</dc:creator>
  <cp:lastModifiedBy>Santiago, Jon</cp:lastModifiedBy>
  <cp:revision>5</cp:revision>
  <dcterms:created xsi:type="dcterms:W3CDTF">2020-05-12T19:48:30Z</dcterms:created>
  <dcterms:modified xsi:type="dcterms:W3CDTF">2026-05-06T15:29:40Z</dcterms:modified>
</cp:coreProperties>
</file>