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75" r:id="rId3"/>
    <p:sldId id="257" r:id="rId4"/>
    <p:sldId id="258" r:id="rId5"/>
    <p:sldId id="276" r:id="rId6"/>
    <p:sldId id="277" r:id="rId7"/>
    <p:sldId id="260" r:id="rId8"/>
    <p:sldId id="278" r:id="rId9"/>
    <p:sldId id="279" r:id="rId10"/>
    <p:sldId id="261" r:id="rId11"/>
    <p:sldId id="280" r:id="rId12"/>
    <p:sldId id="263" r:id="rId13"/>
    <p:sldId id="281" r:id="rId14"/>
    <p:sldId id="282" r:id="rId15"/>
    <p:sldId id="264" r:id="rId16"/>
    <p:sldId id="265" r:id="rId17"/>
    <p:sldId id="266" r:id="rId18"/>
    <p:sldId id="267" r:id="rId19"/>
    <p:sldId id="268" r:id="rId20"/>
    <p:sldId id="284" r:id="rId21"/>
    <p:sldId id="271" r:id="rId22"/>
    <p:sldId id="272" r:id="rId23"/>
    <p:sldId id="269" r:id="rId24"/>
    <p:sldId id="285"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7" autoAdjust="0"/>
    <p:restoredTop sz="77635" autoAdjust="0"/>
  </p:normalViewPr>
  <p:slideViewPr>
    <p:cSldViewPr snapToGrid="0">
      <p:cViewPr varScale="1">
        <p:scale>
          <a:sx n="41" d="100"/>
          <a:sy n="41" d="100"/>
        </p:scale>
        <p:origin x="1512" y="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s-ES" sz="4400" b="0" strike="noStrike" spc="-1">
                <a:latin typeface="Arial"/>
              </a:rPr>
              <a:t>Pulse para desplazar la diapositiva</a:t>
            </a:r>
          </a:p>
        </p:txBody>
      </p:sp>
      <p:sp>
        <p:nvSpPr>
          <p:cNvPr id="40" name="PlaceHolder 2"/>
          <p:cNvSpPr>
            <a:spLocks noGrp="1"/>
          </p:cNvSpPr>
          <p:nvPr>
            <p:ph type="body"/>
          </p:nvPr>
        </p:nvSpPr>
        <p:spPr>
          <a:xfrm>
            <a:off x="756000" y="5078520"/>
            <a:ext cx="6047640" cy="4811040"/>
          </a:xfrm>
          <a:prstGeom prst="rect">
            <a:avLst/>
          </a:prstGeom>
        </p:spPr>
        <p:txBody>
          <a:bodyPr lIns="0" tIns="0" rIns="0" bIns="0">
            <a:noAutofit/>
          </a:bodyPr>
          <a:lstStyle/>
          <a:p>
            <a:r>
              <a:rPr lang="es-ES" sz="2000" b="0" strike="noStrike" spc="-1">
                <a:latin typeface="Arial"/>
              </a:rPr>
              <a:t>Pulse para editar el formato de las notas</a:t>
            </a:r>
          </a:p>
        </p:txBody>
      </p:sp>
      <p:sp>
        <p:nvSpPr>
          <p:cNvPr id="41" name="PlaceHolder 3"/>
          <p:cNvSpPr>
            <a:spLocks noGrp="1"/>
          </p:cNvSpPr>
          <p:nvPr>
            <p:ph type="hdr"/>
          </p:nvPr>
        </p:nvSpPr>
        <p:spPr>
          <a:xfrm>
            <a:off x="0" y="0"/>
            <a:ext cx="3280680" cy="534240"/>
          </a:xfrm>
          <a:prstGeom prst="rect">
            <a:avLst/>
          </a:prstGeom>
        </p:spPr>
        <p:txBody>
          <a:bodyPr lIns="0" tIns="0" rIns="0" bIns="0">
            <a:noAutofit/>
          </a:bodyPr>
          <a:lstStyle/>
          <a:p>
            <a:r>
              <a:rPr lang="es-ES" sz="1400" b="0" strike="noStrike" spc="-1">
                <a:latin typeface="Times New Roman"/>
              </a:rPr>
              <a:t>&lt;cabecera&gt;</a:t>
            </a:r>
          </a:p>
        </p:txBody>
      </p:sp>
      <p:sp>
        <p:nvSpPr>
          <p:cNvPr id="42"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s-ES" sz="1400" b="0" strike="noStrike" spc="-1">
                <a:latin typeface="Times New Roman"/>
              </a:rPr>
              <a:t>&lt;fecha/hora&gt;</a:t>
            </a:r>
          </a:p>
        </p:txBody>
      </p:sp>
      <p:sp>
        <p:nvSpPr>
          <p:cNvPr id="43"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s-ES" sz="1400" b="0" strike="noStrike" spc="-1">
                <a:latin typeface="Times New Roman"/>
              </a:rPr>
              <a:t>&lt;pie de página&gt;</a:t>
            </a:r>
          </a:p>
        </p:txBody>
      </p:sp>
      <p:sp>
        <p:nvSpPr>
          <p:cNvPr id="44"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4032ADF7-E131-44F8-917E-5B4AF5FF4628}" type="slidenum">
              <a:rPr lang="es-ES" sz="1400" b="0" strike="noStrike" spc="-1">
                <a:latin typeface="Times New Roman"/>
              </a:rPr>
              <a:t>‹Nº›</a:t>
            </a:fld>
            <a:endParaRPr lang="es-E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noRot="1" noChangeAspect="1"/>
          </p:cNvSpPr>
          <p:nvPr>
            <p:ph type="sldImg"/>
          </p:nvPr>
        </p:nvSpPr>
        <p:spPr>
          <a:xfrm>
            <a:off x="685800" y="1143000"/>
            <a:ext cx="5485680" cy="3085560"/>
          </a:xfrm>
          <a:prstGeom prst="rect">
            <a:avLst/>
          </a:prstGeom>
        </p:spPr>
      </p:sp>
      <p:sp>
        <p:nvSpPr>
          <p:cNvPr id="109"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dirty="0">
                <a:solidFill>
                  <a:schemeClr val="bg1"/>
                </a:solidFill>
              </a:rPr>
              <a:t>Caso más sencillo: Vamos a empezar por una sola variable independiente</a:t>
            </a:r>
          </a:p>
          <a:p>
            <a:r>
              <a:rPr lang="es-ES" sz="2000" dirty="0">
                <a:solidFill>
                  <a:schemeClr val="bg1"/>
                </a:solidFill>
              </a:rPr>
              <a:t>Vamos a intentar encontrar los parámetros a y b que mejor cumplan</a:t>
            </a:r>
            <a:endParaRPr lang="es-ES" sz="2000" b="0" strike="noStrike" spc="-1" dirty="0">
              <a:latin typeface="Arial"/>
            </a:endParaRPr>
          </a:p>
        </p:txBody>
      </p:sp>
      <p:sp>
        <p:nvSpPr>
          <p:cNvPr id="110"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DD5F6B02-84FB-436A-9EC6-C5B12966F495}" type="slidenum">
              <a:rPr lang="es-ES" sz="1200" b="0" strike="noStrike" spc="-1">
                <a:latin typeface="Times New Roman"/>
              </a:rPr>
              <a:t>1</a:t>
            </a:fld>
            <a:endParaRPr lang="es-E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2</a:t>
            </a:fld>
            <a:endParaRPr lang="es-ES" sz="1200" b="0" strike="noStrike" spc="-1">
              <a:latin typeface="Arial"/>
            </a:endParaRPr>
          </a:p>
        </p:txBody>
      </p:sp>
    </p:spTree>
    <p:extLst>
      <p:ext uri="{BB962C8B-B14F-4D97-AF65-F5344CB8AC3E}">
        <p14:creationId xmlns:p14="http://schemas.microsoft.com/office/powerpoint/2010/main" val="1365568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noRot="1" noChangeAspect="1"/>
          </p:cNvSpPr>
          <p:nvPr>
            <p:ph type="sldImg"/>
          </p:nvPr>
        </p:nvSpPr>
        <p:spPr>
          <a:xfrm>
            <a:off x="685800" y="1143000"/>
            <a:ext cx="5486400" cy="3086100"/>
          </a:xfrm>
          <a:prstGeom prst="rect">
            <a:avLst/>
          </a:prstGeom>
        </p:spPr>
      </p:sp>
      <p:sp>
        <p:nvSpPr>
          <p:cNvPr id="112"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Esto es estadística inferencial (todo lo anterior era estadística descriptiva)</a:t>
            </a:r>
          </a:p>
        </p:txBody>
      </p:sp>
      <p:sp>
        <p:nvSpPr>
          <p:cNvPr id="113"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85AE25E0-C5B9-4025-B978-4573AC724FA0}" type="slidenum">
              <a:rPr lang="es-ES" sz="1200" b="0" strike="noStrike" spc="-1">
                <a:latin typeface="Times New Roman"/>
              </a:rPr>
              <a:t>3</a:t>
            </a:fld>
            <a:endParaRPr lang="es-ES" sz="12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Simple: solo una variable independiente</a:t>
            </a: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4</a:t>
            </a:fld>
            <a:endParaRPr lang="es-ES" sz="12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dirty="0">
              <a:latin typeface="Arial"/>
            </a:endParaRP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5</a:t>
            </a:fld>
            <a:endParaRPr lang="es-ES" sz="1200" b="0" strike="noStrike" spc="-1">
              <a:latin typeface="Arial"/>
            </a:endParaRPr>
          </a:p>
        </p:txBody>
      </p:sp>
    </p:spTree>
    <p:extLst>
      <p:ext uri="{BB962C8B-B14F-4D97-AF65-F5344CB8AC3E}">
        <p14:creationId xmlns:p14="http://schemas.microsoft.com/office/powerpoint/2010/main" val="4148508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6</a:t>
            </a:fld>
            <a:endParaRPr lang="es-ES" sz="1200" b="0" strike="noStrike" spc="-1">
              <a:latin typeface="Arial"/>
            </a:endParaRPr>
          </a:p>
        </p:txBody>
      </p:sp>
    </p:spTree>
    <p:extLst>
      <p:ext uri="{BB962C8B-B14F-4D97-AF65-F5344CB8AC3E}">
        <p14:creationId xmlns:p14="http://schemas.microsoft.com/office/powerpoint/2010/main" val="427557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noRot="1" noChangeAspect="1"/>
          </p:cNvSpPr>
          <p:nvPr>
            <p:ph type="sldImg"/>
          </p:nvPr>
        </p:nvSpPr>
        <p:spPr>
          <a:xfrm>
            <a:off x="685800" y="1143000"/>
            <a:ext cx="5486400" cy="3086100"/>
          </a:xfrm>
          <a:prstGeom prst="rect">
            <a:avLst/>
          </a:prstGeom>
        </p:spPr>
      </p:sp>
      <p:sp>
        <p:nvSpPr>
          <p:cNvPr id="121"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22"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588C8BA3-F8FE-406D-8BBA-5D37BCEAC974}" type="slidenum">
              <a:rPr lang="es-ES" sz="1200" b="0" strike="noStrike" spc="-1">
                <a:latin typeface="Times New Roman"/>
              </a:rPr>
              <a:t>7</a:t>
            </a:fld>
            <a:endParaRPr lang="es-ES" sz="12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El método para encontrar es probar las ‘rectas’ calculando el error medio. </a:t>
            </a: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8</a:t>
            </a:fld>
            <a:endParaRPr lang="es-ES" sz="1200" b="0" strike="noStrike" spc="-1">
              <a:latin typeface="Arial"/>
            </a:endParaRPr>
          </a:p>
        </p:txBody>
      </p:sp>
    </p:spTree>
    <p:extLst>
      <p:ext uri="{BB962C8B-B14F-4D97-AF65-F5344CB8AC3E}">
        <p14:creationId xmlns:p14="http://schemas.microsoft.com/office/powerpoint/2010/main" val="2663850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noRot="1" noChangeAspect="1"/>
          </p:cNvSpPr>
          <p:nvPr>
            <p:ph type="sldImg"/>
          </p:nvPr>
        </p:nvSpPr>
        <p:spPr>
          <a:xfrm>
            <a:off x="685800" y="1143000"/>
            <a:ext cx="5486400" cy="3086100"/>
          </a:xfrm>
          <a:prstGeom prst="rect">
            <a:avLst/>
          </a:prstGeom>
        </p:spPr>
      </p:sp>
      <p:sp>
        <p:nvSpPr>
          <p:cNvPr id="121"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22"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588C8BA3-F8FE-406D-8BBA-5D37BCEAC974}" type="slidenum">
              <a:rPr lang="es-ES" sz="1200" b="0" strike="noStrike" spc="-1">
                <a:latin typeface="Times New Roman"/>
              </a:rPr>
              <a:t>9</a:t>
            </a:fld>
            <a:endParaRPr lang="es-ES" sz="1200" b="0" strike="noStrike" spc="-1">
              <a:latin typeface="Arial"/>
            </a:endParaRPr>
          </a:p>
        </p:txBody>
      </p:sp>
    </p:spTree>
    <p:extLst>
      <p:ext uri="{BB962C8B-B14F-4D97-AF65-F5344CB8AC3E}">
        <p14:creationId xmlns:p14="http://schemas.microsoft.com/office/powerpoint/2010/main" val="1173123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noRot="1" noChangeAspect="1"/>
          </p:cNvSpPr>
          <p:nvPr>
            <p:ph type="sldImg"/>
          </p:nvPr>
        </p:nvSpPr>
        <p:spPr>
          <a:xfrm>
            <a:off x="685800" y="1143000"/>
            <a:ext cx="5486400" cy="3086100"/>
          </a:xfrm>
          <a:prstGeom prst="rect">
            <a:avLst/>
          </a:prstGeom>
        </p:spPr>
      </p:sp>
      <p:sp>
        <p:nvSpPr>
          <p:cNvPr id="124"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A la función se le llama función de coste (los </a:t>
            </a:r>
            <a:r>
              <a:rPr lang="es-ES" sz="2000" b="0" strike="noStrike" spc="-1" dirty="0" err="1">
                <a:latin typeface="Arial"/>
              </a:rPr>
              <a:t>function</a:t>
            </a:r>
            <a:r>
              <a:rPr lang="es-ES" sz="2000" b="0" strike="noStrike" spc="-1" dirty="0">
                <a:latin typeface="Arial"/>
              </a:rPr>
              <a:t>) que vamos a querer que sea la mínima posible.</a:t>
            </a:r>
          </a:p>
          <a:p>
            <a:r>
              <a:rPr lang="es-ES" sz="2000" b="0" strike="noStrike" spc="-1" dirty="0">
                <a:latin typeface="Arial"/>
              </a:rPr>
              <a:t>Hay distintas funciones de coste posibles y tendremos que elegir cual.</a:t>
            </a:r>
          </a:p>
          <a:p>
            <a:r>
              <a:rPr lang="es-ES" sz="2000" b="0" strike="noStrike" spc="-1" dirty="0">
                <a:latin typeface="Arial"/>
              </a:rPr>
              <a:t>MSE - </a:t>
            </a:r>
          </a:p>
        </p:txBody>
      </p:sp>
      <p:sp>
        <p:nvSpPr>
          <p:cNvPr id="125"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BB97A66E-0C43-4A63-A3CB-D0B61D212779}" type="slidenum">
              <a:rPr lang="es-ES" sz="1200" b="0" strike="noStrike" spc="-1">
                <a:latin typeface="Times New Roman"/>
              </a:rPr>
              <a:t>10</a:t>
            </a:fld>
            <a:endParaRPr lang="es-ES" sz="12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685800" y="1143000"/>
            <a:ext cx="5486400" cy="3086100"/>
          </a:xfrm>
          <a:prstGeom prst="rect">
            <a:avLst/>
          </a:prstGeom>
        </p:spPr>
      </p:sp>
      <p:sp>
        <p:nvSpPr>
          <p:cNvPr id="115" name="PlaceHolder 2"/>
          <p:cNvSpPr>
            <a:spLocks noGrp="1"/>
          </p:cNvSpPr>
          <p:nvPr>
            <p:ph type="body"/>
          </p:nvPr>
        </p:nvSpPr>
        <p:spPr>
          <a:xfrm>
            <a:off x="685800" y="4400640"/>
            <a:ext cx="5485680" cy="3599640"/>
          </a:xfrm>
          <a:prstGeom prst="rect">
            <a:avLst/>
          </a:prstGeom>
        </p:spPr>
        <p:txBody>
          <a:bodyPr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000" b="0" strike="noStrike" spc="-1" dirty="0">
                <a:latin typeface="+mn-lt"/>
              </a:rPr>
              <a:t>La función de coste está dibujada en azul. En este caso sólo tiene un mínimo</a:t>
            </a:r>
          </a:p>
        </p:txBody>
      </p:sp>
      <p:sp>
        <p:nvSpPr>
          <p:cNvPr id="11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BBD8118-C669-425E-AD88-4536C113CC15}" type="slidenum">
              <a:rPr lang="es-ES" sz="1200" b="0" strike="noStrike" spc="-1">
                <a:latin typeface="Times New Roman"/>
              </a:rPr>
              <a:t>11</a:t>
            </a:fld>
            <a:endParaRPr lang="es-ES" sz="1200" b="0" strike="noStrike" spc="-1">
              <a:latin typeface="Arial"/>
            </a:endParaRPr>
          </a:p>
        </p:txBody>
      </p:sp>
    </p:spTree>
    <p:extLst>
      <p:ext uri="{BB962C8B-B14F-4D97-AF65-F5344CB8AC3E}">
        <p14:creationId xmlns:p14="http://schemas.microsoft.com/office/powerpoint/2010/main" val="4051123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noRot="1" noChangeAspect="1"/>
          </p:cNvSpPr>
          <p:nvPr>
            <p:ph type="sldImg"/>
          </p:nvPr>
        </p:nvSpPr>
        <p:spPr>
          <a:xfrm>
            <a:off x="685800" y="1143000"/>
            <a:ext cx="5486400" cy="3086100"/>
          </a:xfrm>
          <a:prstGeom prst="rect">
            <a:avLst/>
          </a:prstGeom>
        </p:spPr>
      </p:sp>
      <p:sp>
        <p:nvSpPr>
          <p:cNvPr id="130"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La máquina va a buscar los mínimos en esta función. Va probando a fuerza bruta hasta encontrar el mínimo: donde la mínimo sea cero (cerca de cero)</a:t>
            </a:r>
          </a:p>
        </p:txBody>
      </p:sp>
      <p:sp>
        <p:nvSpPr>
          <p:cNvPr id="131"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B8448D7-F168-48AE-8E90-731BE8B75BDB}" type="slidenum">
              <a:rPr lang="es-ES" sz="1200" b="0" strike="noStrike" spc="-1">
                <a:latin typeface="Times New Roman"/>
              </a:rPr>
              <a:t>12</a:t>
            </a:fld>
            <a:endParaRPr lang="es-ES" sz="12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noRot="1" noChangeAspect="1"/>
          </p:cNvSpPr>
          <p:nvPr>
            <p:ph type="sldImg"/>
          </p:nvPr>
        </p:nvSpPr>
        <p:spPr>
          <a:xfrm>
            <a:off x="685800" y="1143000"/>
            <a:ext cx="5486400" cy="3086100"/>
          </a:xfrm>
          <a:prstGeom prst="rect">
            <a:avLst/>
          </a:prstGeom>
        </p:spPr>
      </p:sp>
      <p:sp>
        <p:nvSpPr>
          <p:cNvPr id="130"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31"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B8448D7-F168-48AE-8E90-731BE8B75BDB}" type="slidenum">
              <a:rPr lang="es-ES" sz="1200" b="0" strike="noStrike" spc="-1">
                <a:latin typeface="Times New Roman"/>
              </a:rPr>
              <a:t>13</a:t>
            </a:fld>
            <a:endParaRPr lang="es-ES" sz="1200" b="0" strike="noStrike" spc="-1">
              <a:latin typeface="Arial"/>
            </a:endParaRPr>
          </a:p>
        </p:txBody>
      </p:sp>
    </p:spTree>
    <p:extLst>
      <p:ext uri="{BB962C8B-B14F-4D97-AF65-F5344CB8AC3E}">
        <p14:creationId xmlns:p14="http://schemas.microsoft.com/office/powerpoint/2010/main" val="263069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noRot="1" noChangeAspect="1"/>
          </p:cNvSpPr>
          <p:nvPr>
            <p:ph type="sldImg"/>
          </p:nvPr>
        </p:nvSpPr>
        <p:spPr>
          <a:xfrm>
            <a:off x="685800" y="1143000"/>
            <a:ext cx="5486400" cy="3086100"/>
          </a:xfrm>
          <a:prstGeom prst="rect">
            <a:avLst/>
          </a:prstGeom>
        </p:spPr>
      </p:sp>
      <p:sp>
        <p:nvSpPr>
          <p:cNvPr id="130"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err="1">
                <a:latin typeface="Arial"/>
              </a:rPr>
              <a:t>Learning</a:t>
            </a:r>
            <a:r>
              <a:rPr lang="es-ES" sz="2000" b="0" strike="noStrike" spc="-1" dirty="0">
                <a:latin typeface="Arial"/>
              </a:rPr>
              <a:t> </a:t>
            </a:r>
            <a:r>
              <a:rPr lang="es-ES" sz="2000" b="0" strike="noStrike" spc="-1" dirty="0" err="1">
                <a:latin typeface="Arial"/>
              </a:rPr>
              <a:t>rate</a:t>
            </a:r>
            <a:r>
              <a:rPr lang="es-ES" sz="2000" b="0" strike="noStrike" spc="-1" dirty="0">
                <a:latin typeface="Arial"/>
              </a:rPr>
              <a:t> es el parámetro que podemos tocar (aunque no es lo habitual)</a:t>
            </a:r>
          </a:p>
        </p:txBody>
      </p:sp>
      <p:sp>
        <p:nvSpPr>
          <p:cNvPr id="131"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EB8448D7-F168-48AE-8E90-731BE8B75BDB}" type="slidenum">
              <a:rPr lang="es-ES" sz="1200" b="0" strike="noStrike" spc="-1">
                <a:latin typeface="Times New Roman"/>
              </a:rPr>
              <a:t>14</a:t>
            </a:fld>
            <a:endParaRPr lang="es-ES" sz="1200" b="0" strike="noStrike" spc="-1">
              <a:latin typeface="Arial"/>
            </a:endParaRPr>
          </a:p>
        </p:txBody>
      </p:sp>
    </p:spTree>
    <p:extLst>
      <p:ext uri="{BB962C8B-B14F-4D97-AF65-F5344CB8AC3E}">
        <p14:creationId xmlns:p14="http://schemas.microsoft.com/office/powerpoint/2010/main" val="419703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noRot="1" noChangeAspect="1"/>
          </p:cNvSpPr>
          <p:nvPr>
            <p:ph type="sldImg"/>
          </p:nvPr>
        </p:nvSpPr>
        <p:spPr>
          <a:xfrm>
            <a:off x="685800" y="1143000"/>
            <a:ext cx="5485680" cy="3085560"/>
          </a:xfrm>
          <a:prstGeom prst="rect">
            <a:avLst/>
          </a:prstGeom>
        </p:spPr>
      </p:sp>
      <p:sp>
        <p:nvSpPr>
          <p:cNvPr id="133"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34"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AA26236C-A874-4727-96DB-B5A80E3F61F9}" type="slidenum">
              <a:rPr lang="es-ES" sz="1200" b="0" strike="noStrike" spc="-1">
                <a:latin typeface="Times New Roman"/>
              </a:rPr>
              <a:t>15</a:t>
            </a:fld>
            <a:endParaRPr lang="es-ES" sz="12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noRot="1" noChangeAspect="1"/>
          </p:cNvSpPr>
          <p:nvPr>
            <p:ph type="sldImg"/>
          </p:nvPr>
        </p:nvSpPr>
        <p:spPr>
          <a:xfrm>
            <a:off x="685800" y="1143000"/>
            <a:ext cx="5486400" cy="3086100"/>
          </a:xfrm>
          <a:prstGeom prst="rect">
            <a:avLst/>
          </a:prstGeom>
        </p:spPr>
      </p:sp>
      <p:sp>
        <p:nvSpPr>
          <p:cNvPr id="136"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Ejemplo de coeficientes que nos daría el modelo</a:t>
            </a:r>
          </a:p>
        </p:txBody>
      </p:sp>
      <p:sp>
        <p:nvSpPr>
          <p:cNvPr id="137"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6C015C4F-E15F-47EA-BCE1-3203B63B00B8}" type="slidenum">
              <a:rPr lang="es-ES" sz="1200" b="0" strike="noStrike" spc="-1">
                <a:latin typeface="Times New Roman"/>
              </a:rPr>
              <a:t>16</a:t>
            </a:fld>
            <a:endParaRPr lang="es-ES" sz="1200" b="0" strike="noStrike" spc="-1">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noRot="1" noChangeAspect="1"/>
          </p:cNvSpPr>
          <p:nvPr>
            <p:ph type="sldImg"/>
          </p:nvPr>
        </p:nvSpPr>
        <p:spPr>
          <a:xfrm>
            <a:off x="685800" y="1143000"/>
            <a:ext cx="5486400" cy="3086100"/>
          </a:xfrm>
          <a:prstGeom prst="rect">
            <a:avLst/>
          </a:prstGeom>
        </p:spPr>
      </p:sp>
      <p:sp>
        <p:nvSpPr>
          <p:cNvPr id="139"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Cuidado! No puedo comparar los coeficientes (cual es más importante) hasta que no tenga las características en las mismas unidades (en este caso no puedo comparar ingresos (miles) y habitaciones (2,3,4…). Para ver qué parámetro influye más tengo que poner las características en las mismas unidades</a:t>
            </a:r>
          </a:p>
        </p:txBody>
      </p:sp>
      <p:sp>
        <p:nvSpPr>
          <p:cNvPr id="140"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18B1430B-A5C7-47BB-B119-15D098977E81}" type="slidenum">
              <a:rPr lang="es-ES" sz="1200" b="0" strike="noStrike" spc="-1">
                <a:latin typeface="Times New Roman"/>
              </a:rPr>
              <a:t>17</a:t>
            </a:fld>
            <a:endParaRPr lang="es-ES" sz="1200" b="0" strike="noStrike" spc="-1">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noRot="1" noChangeAspect="1"/>
          </p:cNvSpPr>
          <p:nvPr>
            <p:ph type="sldImg"/>
          </p:nvPr>
        </p:nvSpPr>
        <p:spPr>
          <a:xfrm>
            <a:off x="685800" y="1143000"/>
            <a:ext cx="5486400" cy="3086100"/>
          </a:xfrm>
          <a:prstGeom prst="rect">
            <a:avLst/>
          </a:prstGeom>
        </p:spPr>
      </p:sp>
      <p:sp>
        <p:nvSpPr>
          <p:cNvPr id="142"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43"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442C3F50-D409-4358-87A6-35AB5CCE7CEA}" type="slidenum">
              <a:rPr lang="es-ES" sz="1200" b="0" strike="noStrike" spc="-1">
                <a:latin typeface="Times New Roman"/>
              </a:rPr>
              <a:t>18</a:t>
            </a:fld>
            <a:endParaRPr lang="es-ES" sz="1200" b="0" strike="noStrike" spc="-1">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noRot="1" noChangeAspect="1"/>
          </p:cNvSpPr>
          <p:nvPr>
            <p:ph type="sldImg"/>
          </p:nvPr>
        </p:nvSpPr>
        <p:spPr>
          <a:xfrm>
            <a:off x="685800" y="1143000"/>
            <a:ext cx="5486400" cy="3086100"/>
          </a:xfrm>
          <a:prstGeom prst="rect">
            <a:avLst/>
          </a:prstGeom>
        </p:spPr>
      </p:sp>
      <p:sp>
        <p:nvSpPr>
          <p:cNvPr id="145"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Condiciones que asume el método de regresión lineal:</a:t>
            </a:r>
          </a:p>
          <a:p>
            <a:pPr marL="342900" indent="-342900">
              <a:buFontTx/>
              <a:buChar char="-"/>
            </a:pPr>
            <a:r>
              <a:rPr lang="es-ES" sz="2000" b="0" strike="noStrike" spc="-1" dirty="0">
                <a:latin typeface="Arial"/>
              </a:rPr>
              <a:t>Distribución normal. Si no la tiene, no es un modelo bueno</a:t>
            </a:r>
          </a:p>
          <a:p>
            <a:pPr marL="342900" indent="-342900">
              <a:buFontTx/>
              <a:buChar char="-"/>
            </a:pPr>
            <a:r>
              <a:rPr lang="es-ES" sz="2000" b="0" strike="noStrike" spc="-1" dirty="0">
                <a:latin typeface="Arial"/>
              </a:rPr>
              <a:t>No tiene que haber correlación entre las variables, no hace falta que sea directa. Ya por encima de 0.7 hay que mirarlo bien, probablemente puedas quitar una.</a:t>
            </a:r>
          </a:p>
          <a:p>
            <a:pPr marL="342900" indent="-342900">
              <a:buFontTx/>
              <a:buChar char="-"/>
            </a:pPr>
            <a:r>
              <a:rPr lang="es-ES" sz="2000" b="0" strike="noStrike" spc="-1" dirty="0" err="1">
                <a:latin typeface="Arial"/>
              </a:rPr>
              <a:t>Relacion</a:t>
            </a:r>
            <a:r>
              <a:rPr lang="es-ES" sz="2000" b="0" strike="noStrike" spc="-1" dirty="0">
                <a:latin typeface="Arial"/>
              </a:rPr>
              <a:t> lineal</a:t>
            </a:r>
          </a:p>
        </p:txBody>
      </p:sp>
      <p:sp>
        <p:nvSpPr>
          <p:cNvPr id="14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642ECB8-0BD6-4AD7-B3FE-8D55F6674CAA}" type="slidenum">
              <a:rPr lang="es-ES" sz="1200" b="0" strike="noStrike" spc="-1">
                <a:latin typeface="Times New Roman"/>
              </a:rPr>
              <a:t>19</a:t>
            </a:fld>
            <a:endParaRPr lang="es-ES" sz="1200" b="0" strike="noStrike" spc="-1">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noRot="1" noChangeAspect="1"/>
          </p:cNvSpPr>
          <p:nvPr>
            <p:ph type="sldImg"/>
          </p:nvPr>
        </p:nvSpPr>
        <p:spPr>
          <a:xfrm>
            <a:off x="685800" y="1143000"/>
            <a:ext cx="5486400" cy="3086100"/>
          </a:xfrm>
          <a:prstGeom prst="rect">
            <a:avLst/>
          </a:prstGeom>
        </p:spPr>
      </p:sp>
      <p:sp>
        <p:nvSpPr>
          <p:cNvPr id="145"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 Si los errores no son aleatorios sino que siguen algún patrón es que no estoy haciendo bien el modelo</a:t>
            </a:r>
          </a:p>
        </p:txBody>
      </p:sp>
      <p:sp>
        <p:nvSpPr>
          <p:cNvPr id="146"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642ECB8-0BD6-4AD7-B3FE-8D55F6674CAA}" type="slidenum">
              <a:rPr lang="es-ES" sz="1200" b="0" strike="noStrike" spc="-1">
                <a:latin typeface="Times New Roman"/>
              </a:rPr>
              <a:t>20</a:t>
            </a:fld>
            <a:endParaRPr lang="es-ES" sz="1200" b="0" strike="noStrike" spc="-1">
              <a:latin typeface="Arial"/>
            </a:endParaRPr>
          </a:p>
        </p:txBody>
      </p:sp>
    </p:spTree>
    <p:extLst>
      <p:ext uri="{BB962C8B-B14F-4D97-AF65-F5344CB8AC3E}">
        <p14:creationId xmlns:p14="http://schemas.microsoft.com/office/powerpoint/2010/main" val="752392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noRot="1" noChangeAspect="1"/>
          </p:cNvSpPr>
          <p:nvPr>
            <p:ph type="sldImg"/>
          </p:nvPr>
        </p:nvSpPr>
        <p:spPr>
          <a:xfrm>
            <a:off x="685800" y="1143000"/>
            <a:ext cx="5485680" cy="3085560"/>
          </a:xfrm>
          <a:prstGeom prst="rect">
            <a:avLst/>
          </a:prstGeom>
        </p:spPr>
      </p:sp>
      <p:sp>
        <p:nvSpPr>
          <p:cNvPr id="154"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55"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12A75D55-6D27-4D86-BED9-ED35020EFDAE}" type="slidenum">
              <a:rPr lang="es-ES" sz="1200" b="0" strike="noStrike" spc="-1">
                <a:latin typeface="Times New Roman"/>
              </a:rPr>
              <a:t>21</a:t>
            </a:fld>
            <a:endParaRPr lang="es-ES" sz="1200" b="0" strike="noStrike" spc="-1">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noRot="1" noChangeAspect="1"/>
          </p:cNvSpPr>
          <p:nvPr>
            <p:ph type="sldImg"/>
          </p:nvPr>
        </p:nvSpPr>
        <p:spPr>
          <a:xfrm>
            <a:off x="685800" y="1143000"/>
            <a:ext cx="5486400" cy="3086100"/>
          </a:xfrm>
          <a:prstGeom prst="rect">
            <a:avLst/>
          </a:prstGeom>
        </p:spPr>
      </p:sp>
      <p:sp>
        <p:nvSpPr>
          <p:cNvPr id="157" name="PlaceHolder 2"/>
          <p:cNvSpPr>
            <a:spLocks noGrp="1"/>
          </p:cNvSpPr>
          <p:nvPr>
            <p:ph type="body"/>
          </p:nvPr>
        </p:nvSpPr>
        <p:spPr>
          <a:xfrm>
            <a:off x="685800" y="4400640"/>
            <a:ext cx="5485680" cy="3599640"/>
          </a:xfrm>
          <a:prstGeom prst="rect">
            <a:avLst/>
          </a:prstGeom>
        </p:spPr>
        <p:txBody>
          <a:bodyPr lIns="0" tIns="0" rIns="0" bIns="0">
            <a:noAutofit/>
          </a:bodyPr>
          <a:lstStyle/>
          <a:p>
            <a:r>
              <a:rPr lang="es-ES" sz="2000" b="0" strike="noStrike" spc="-1" dirty="0">
                <a:latin typeface="Arial"/>
              </a:rPr>
              <a:t>Distintas formas de medir errores: la métrica a usar depende del tipo de problema. Y pueden usarse varias</a:t>
            </a:r>
          </a:p>
        </p:txBody>
      </p:sp>
      <p:sp>
        <p:nvSpPr>
          <p:cNvPr id="158"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AACD48CE-F186-49AE-BDED-689C9E4F289A}" type="slidenum">
              <a:rPr lang="es-ES" sz="1200" b="0" strike="noStrike" spc="-1">
                <a:latin typeface="Times New Roman"/>
              </a:rPr>
              <a:t>22</a:t>
            </a:fld>
            <a:endParaRPr lang="es-ES" sz="1200" b="0" strike="noStrike" spc="-1">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noRot="1" noChangeAspect="1"/>
          </p:cNvSpPr>
          <p:nvPr>
            <p:ph type="sldImg"/>
          </p:nvPr>
        </p:nvSpPr>
        <p:spPr>
          <a:xfrm>
            <a:off x="685800" y="1143000"/>
            <a:ext cx="5486400" cy="3086100"/>
          </a:xfrm>
          <a:prstGeom prst="rect">
            <a:avLst/>
          </a:prstGeom>
        </p:spPr>
      </p:sp>
      <p:sp>
        <p:nvSpPr>
          <p:cNvPr id="148"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49"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056E2B6A-E5F2-44D8-AD6D-796F99468BE2}" type="slidenum">
              <a:rPr lang="es-ES" sz="1200" b="0" strike="noStrike" spc="-1">
                <a:latin typeface="Times New Roman"/>
              </a:rPr>
              <a:t>23</a:t>
            </a:fld>
            <a:endParaRPr lang="es-ES" sz="1200" b="0" strike="noStrike" spc="-1">
              <a:latin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noRot="1" noChangeAspect="1"/>
          </p:cNvSpPr>
          <p:nvPr>
            <p:ph type="sldImg"/>
          </p:nvPr>
        </p:nvSpPr>
        <p:spPr>
          <a:xfrm>
            <a:off x="685800" y="1143000"/>
            <a:ext cx="5486400" cy="3086100"/>
          </a:xfrm>
          <a:prstGeom prst="rect">
            <a:avLst/>
          </a:prstGeom>
        </p:spPr>
      </p:sp>
      <p:sp>
        <p:nvSpPr>
          <p:cNvPr id="157"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s-ES" sz="2000" b="0" strike="noStrike" spc="-1">
              <a:latin typeface="Arial"/>
            </a:endParaRPr>
          </a:p>
        </p:txBody>
      </p:sp>
      <p:sp>
        <p:nvSpPr>
          <p:cNvPr id="158" name="CustomShape 3"/>
          <p:cNvSpPr/>
          <p:nvPr/>
        </p:nvSpPr>
        <p:spPr>
          <a:xfrm>
            <a:off x="3884760" y="8685360"/>
            <a:ext cx="2971080" cy="45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AACD48CE-F186-49AE-BDED-689C9E4F289A}" type="slidenum">
              <a:rPr lang="es-ES" sz="1200" b="0" strike="noStrike" spc="-1">
                <a:latin typeface="Times New Roman"/>
              </a:rPr>
              <a:t>24</a:t>
            </a:fld>
            <a:endParaRPr lang="es-ES" sz="1200" b="0" strike="noStrike" spc="-1">
              <a:latin typeface="Arial"/>
            </a:endParaRPr>
          </a:p>
        </p:txBody>
      </p:sp>
    </p:spTree>
    <p:extLst>
      <p:ext uri="{BB962C8B-B14F-4D97-AF65-F5344CB8AC3E}">
        <p14:creationId xmlns:p14="http://schemas.microsoft.com/office/powerpoint/2010/main" val="384159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4" name="PlaceHolder 2"/>
          <p:cNvSpPr>
            <a:spLocks noGrp="1"/>
          </p:cNvSpPr>
          <p:nvPr>
            <p:ph type="subTitle"/>
          </p:nvPr>
        </p:nvSpPr>
        <p:spPr>
          <a:xfrm>
            <a:off x="838080" y="1825560"/>
            <a:ext cx="2527920" cy="435060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6" name="PlaceHolder 2"/>
          <p:cNvSpPr>
            <a:spLocks noGrp="1"/>
          </p:cNvSpPr>
          <p:nvPr>
            <p:ph type="body"/>
          </p:nvPr>
        </p:nvSpPr>
        <p:spPr>
          <a:xfrm>
            <a:off x="838080" y="1825560"/>
            <a:ext cx="2527920" cy="4350600"/>
          </a:xfrm>
          <a:prstGeom prst="rect">
            <a:avLst/>
          </a:prstGeom>
        </p:spPr>
        <p:txBody>
          <a:bodyPr lIns="0" tIns="0" rIns="0" bIns="0">
            <a:normAutofit/>
          </a:bodyPr>
          <a:lstStyle/>
          <a:p>
            <a:endParaRPr lang="es-E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8" name="PlaceHolder 2"/>
          <p:cNvSpPr>
            <a:spLocks noGrp="1"/>
          </p:cNvSpPr>
          <p:nvPr>
            <p:ph type="body"/>
          </p:nvPr>
        </p:nvSpPr>
        <p:spPr>
          <a:xfrm>
            <a:off x="838080" y="1825560"/>
            <a:ext cx="1233360" cy="4350600"/>
          </a:xfrm>
          <a:prstGeom prst="rect">
            <a:avLst/>
          </a:prstGeom>
        </p:spPr>
        <p:txBody>
          <a:bodyPr lIns="0" tIns="0" rIns="0" bIns="0">
            <a:normAutofit/>
          </a:bodyPr>
          <a:lstStyle/>
          <a:p>
            <a:endParaRPr lang="es-ES" sz="3200" b="0" strike="noStrike" spc="-1">
              <a:latin typeface="Arial"/>
            </a:endParaRPr>
          </a:p>
        </p:txBody>
      </p:sp>
      <p:sp>
        <p:nvSpPr>
          <p:cNvPr id="9" name="PlaceHolder 3"/>
          <p:cNvSpPr>
            <a:spLocks noGrp="1"/>
          </p:cNvSpPr>
          <p:nvPr>
            <p:ph type="body"/>
          </p:nvPr>
        </p:nvSpPr>
        <p:spPr>
          <a:xfrm>
            <a:off x="2133360" y="1825560"/>
            <a:ext cx="1233360" cy="4350600"/>
          </a:xfrm>
          <a:prstGeom prst="rect">
            <a:avLst/>
          </a:prstGeom>
        </p:spPr>
        <p:txBody>
          <a:bodyPr lIns="0" tIns="0" rIns="0" bIns="0">
            <a:normAutofit/>
          </a:bodyPr>
          <a:lstStyle/>
          <a:p>
            <a:endParaRPr lang="es-E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838080" y="365040"/>
            <a:ext cx="10514880" cy="614232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13" name="PlaceHolder 2"/>
          <p:cNvSpPr>
            <a:spLocks noGrp="1"/>
          </p:cNvSpPr>
          <p:nvPr>
            <p:ph type="body"/>
          </p:nvPr>
        </p:nvSpPr>
        <p:spPr>
          <a:xfrm>
            <a:off x="83808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14" name="PlaceHolder 3"/>
          <p:cNvSpPr>
            <a:spLocks noGrp="1"/>
          </p:cNvSpPr>
          <p:nvPr>
            <p:ph type="body"/>
          </p:nvPr>
        </p:nvSpPr>
        <p:spPr>
          <a:xfrm>
            <a:off x="2133360" y="1825560"/>
            <a:ext cx="1233360" cy="4350600"/>
          </a:xfrm>
          <a:prstGeom prst="rect">
            <a:avLst/>
          </a:prstGeom>
        </p:spPr>
        <p:txBody>
          <a:bodyPr lIns="0" tIns="0" rIns="0" bIns="0">
            <a:normAutofit/>
          </a:bodyPr>
          <a:lstStyle/>
          <a:p>
            <a:endParaRPr lang="es-ES" sz="3200" b="0" strike="noStrike" spc="-1">
              <a:latin typeface="Arial"/>
            </a:endParaRPr>
          </a:p>
        </p:txBody>
      </p:sp>
      <p:sp>
        <p:nvSpPr>
          <p:cNvPr id="15" name="PlaceHolder 4"/>
          <p:cNvSpPr>
            <a:spLocks noGrp="1"/>
          </p:cNvSpPr>
          <p:nvPr>
            <p:ph type="body"/>
          </p:nvPr>
        </p:nvSpPr>
        <p:spPr>
          <a:xfrm>
            <a:off x="838080" y="4098240"/>
            <a:ext cx="1233360" cy="2075040"/>
          </a:xfrm>
          <a:prstGeom prst="rect">
            <a:avLst/>
          </a:prstGeom>
        </p:spPr>
        <p:txBody>
          <a:bodyPr lIns="0" tIns="0" rIns="0" bIns="0">
            <a:normAutofit fontScale="42000"/>
          </a:bodyPr>
          <a:lstStyle/>
          <a:p>
            <a:endParaRPr lang="es-E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17" name="PlaceHolder 2"/>
          <p:cNvSpPr>
            <a:spLocks noGrp="1"/>
          </p:cNvSpPr>
          <p:nvPr>
            <p:ph type="body"/>
          </p:nvPr>
        </p:nvSpPr>
        <p:spPr>
          <a:xfrm>
            <a:off x="838080" y="1825560"/>
            <a:ext cx="1233360" cy="4350600"/>
          </a:xfrm>
          <a:prstGeom prst="rect">
            <a:avLst/>
          </a:prstGeom>
        </p:spPr>
        <p:txBody>
          <a:bodyPr lIns="0" tIns="0" rIns="0" bIns="0">
            <a:normAutofit/>
          </a:bodyPr>
          <a:lstStyle/>
          <a:p>
            <a:endParaRPr lang="es-ES" sz="3200" b="0" strike="noStrike" spc="-1">
              <a:latin typeface="Arial"/>
            </a:endParaRPr>
          </a:p>
        </p:txBody>
      </p:sp>
      <p:sp>
        <p:nvSpPr>
          <p:cNvPr id="18" name="PlaceHolder 3"/>
          <p:cNvSpPr>
            <a:spLocks noGrp="1"/>
          </p:cNvSpPr>
          <p:nvPr>
            <p:ph type="body"/>
          </p:nvPr>
        </p:nvSpPr>
        <p:spPr>
          <a:xfrm>
            <a:off x="213336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19" name="PlaceHolder 4"/>
          <p:cNvSpPr>
            <a:spLocks noGrp="1"/>
          </p:cNvSpPr>
          <p:nvPr>
            <p:ph type="body"/>
          </p:nvPr>
        </p:nvSpPr>
        <p:spPr>
          <a:xfrm>
            <a:off x="2133360" y="4098240"/>
            <a:ext cx="1233360" cy="2075040"/>
          </a:xfrm>
          <a:prstGeom prst="rect">
            <a:avLst/>
          </a:prstGeom>
        </p:spPr>
        <p:txBody>
          <a:bodyPr lIns="0" tIns="0" rIns="0" bIns="0">
            <a:normAutofit fontScale="42000"/>
          </a:bodyPr>
          <a:lstStyle/>
          <a:p>
            <a:endParaRPr lang="es-E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21" name="PlaceHolder 2"/>
          <p:cNvSpPr>
            <a:spLocks noGrp="1"/>
          </p:cNvSpPr>
          <p:nvPr>
            <p:ph type="body"/>
          </p:nvPr>
        </p:nvSpPr>
        <p:spPr>
          <a:xfrm>
            <a:off x="83808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22" name="PlaceHolder 3"/>
          <p:cNvSpPr>
            <a:spLocks noGrp="1"/>
          </p:cNvSpPr>
          <p:nvPr>
            <p:ph type="body"/>
          </p:nvPr>
        </p:nvSpPr>
        <p:spPr>
          <a:xfrm>
            <a:off x="213336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23" name="PlaceHolder 4"/>
          <p:cNvSpPr>
            <a:spLocks noGrp="1"/>
          </p:cNvSpPr>
          <p:nvPr>
            <p:ph type="body"/>
          </p:nvPr>
        </p:nvSpPr>
        <p:spPr>
          <a:xfrm>
            <a:off x="838080" y="4098240"/>
            <a:ext cx="2527920" cy="2075040"/>
          </a:xfrm>
          <a:prstGeom prst="rect">
            <a:avLst/>
          </a:prstGeom>
        </p:spPr>
        <p:txBody>
          <a:bodyPr lIns="0" tIns="0" rIns="0" bIns="0">
            <a:normAutofit/>
          </a:bodyPr>
          <a:lstStyle/>
          <a:p>
            <a:endParaRPr lang="es-E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25" name="PlaceHolder 2"/>
          <p:cNvSpPr>
            <a:spLocks noGrp="1"/>
          </p:cNvSpPr>
          <p:nvPr>
            <p:ph type="body"/>
          </p:nvPr>
        </p:nvSpPr>
        <p:spPr>
          <a:xfrm>
            <a:off x="838080" y="1825560"/>
            <a:ext cx="2527920" cy="2075040"/>
          </a:xfrm>
          <a:prstGeom prst="rect">
            <a:avLst/>
          </a:prstGeom>
        </p:spPr>
        <p:txBody>
          <a:bodyPr lIns="0" tIns="0" rIns="0" bIns="0">
            <a:normAutofit/>
          </a:bodyPr>
          <a:lstStyle/>
          <a:p>
            <a:endParaRPr lang="es-ES" sz="3200" b="0" strike="noStrike" spc="-1">
              <a:latin typeface="Arial"/>
            </a:endParaRPr>
          </a:p>
        </p:txBody>
      </p:sp>
      <p:sp>
        <p:nvSpPr>
          <p:cNvPr id="26" name="PlaceHolder 3"/>
          <p:cNvSpPr>
            <a:spLocks noGrp="1"/>
          </p:cNvSpPr>
          <p:nvPr>
            <p:ph type="body"/>
          </p:nvPr>
        </p:nvSpPr>
        <p:spPr>
          <a:xfrm>
            <a:off x="838080" y="4098240"/>
            <a:ext cx="2527920" cy="2075040"/>
          </a:xfrm>
          <a:prstGeom prst="rect">
            <a:avLst/>
          </a:prstGeom>
        </p:spPr>
        <p:txBody>
          <a:bodyPr lIns="0" tIns="0" rIns="0" bIns="0">
            <a:normAutofit/>
          </a:bodyPr>
          <a:lstStyle/>
          <a:p>
            <a:endParaRPr lang="es-E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28" name="PlaceHolder 2"/>
          <p:cNvSpPr>
            <a:spLocks noGrp="1"/>
          </p:cNvSpPr>
          <p:nvPr>
            <p:ph type="body"/>
          </p:nvPr>
        </p:nvSpPr>
        <p:spPr>
          <a:xfrm>
            <a:off x="83808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29" name="PlaceHolder 3"/>
          <p:cNvSpPr>
            <a:spLocks noGrp="1"/>
          </p:cNvSpPr>
          <p:nvPr>
            <p:ph type="body"/>
          </p:nvPr>
        </p:nvSpPr>
        <p:spPr>
          <a:xfrm>
            <a:off x="2133360" y="182556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30" name="PlaceHolder 4"/>
          <p:cNvSpPr>
            <a:spLocks noGrp="1"/>
          </p:cNvSpPr>
          <p:nvPr>
            <p:ph type="body"/>
          </p:nvPr>
        </p:nvSpPr>
        <p:spPr>
          <a:xfrm>
            <a:off x="838080" y="4098240"/>
            <a:ext cx="1233360" cy="2075040"/>
          </a:xfrm>
          <a:prstGeom prst="rect">
            <a:avLst/>
          </a:prstGeom>
        </p:spPr>
        <p:txBody>
          <a:bodyPr lIns="0" tIns="0" rIns="0" bIns="0">
            <a:normAutofit fontScale="42000"/>
          </a:bodyPr>
          <a:lstStyle/>
          <a:p>
            <a:endParaRPr lang="es-ES" sz="3200" b="0" strike="noStrike" spc="-1">
              <a:latin typeface="Arial"/>
            </a:endParaRPr>
          </a:p>
        </p:txBody>
      </p:sp>
      <p:sp>
        <p:nvSpPr>
          <p:cNvPr id="31" name="PlaceHolder 5"/>
          <p:cNvSpPr>
            <a:spLocks noGrp="1"/>
          </p:cNvSpPr>
          <p:nvPr>
            <p:ph type="body"/>
          </p:nvPr>
        </p:nvSpPr>
        <p:spPr>
          <a:xfrm>
            <a:off x="2133360" y="4098240"/>
            <a:ext cx="1233360" cy="2075040"/>
          </a:xfrm>
          <a:prstGeom prst="rect">
            <a:avLst/>
          </a:prstGeom>
        </p:spPr>
        <p:txBody>
          <a:bodyPr lIns="0" tIns="0" rIns="0" bIns="0">
            <a:normAutofit fontScale="42000"/>
          </a:bodyPr>
          <a:lstStyle/>
          <a:p>
            <a:endParaRPr lang="es-E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endParaRPr lang="es-ES" sz="4400" b="0" strike="noStrike" spc="-1">
              <a:latin typeface="Arial"/>
            </a:endParaRPr>
          </a:p>
        </p:txBody>
      </p:sp>
      <p:sp>
        <p:nvSpPr>
          <p:cNvPr id="33" name="PlaceHolder 2"/>
          <p:cNvSpPr>
            <a:spLocks noGrp="1"/>
          </p:cNvSpPr>
          <p:nvPr>
            <p:ph type="body"/>
          </p:nvPr>
        </p:nvSpPr>
        <p:spPr>
          <a:xfrm>
            <a:off x="838080" y="1825560"/>
            <a:ext cx="813600" cy="2075040"/>
          </a:xfrm>
          <a:prstGeom prst="rect">
            <a:avLst/>
          </a:prstGeom>
        </p:spPr>
        <p:txBody>
          <a:bodyPr lIns="0" tIns="0" rIns="0" bIns="0">
            <a:normAutofit fontScale="16000"/>
          </a:bodyPr>
          <a:lstStyle/>
          <a:p>
            <a:endParaRPr lang="es-ES" sz="3200" b="0" strike="noStrike" spc="-1">
              <a:latin typeface="Arial"/>
            </a:endParaRPr>
          </a:p>
        </p:txBody>
      </p:sp>
      <p:sp>
        <p:nvSpPr>
          <p:cNvPr id="34" name="PlaceHolder 3"/>
          <p:cNvSpPr>
            <a:spLocks noGrp="1"/>
          </p:cNvSpPr>
          <p:nvPr>
            <p:ph type="body"/>
          </p:nvPr>
        </p:nvSpPr>
        <p:spPr>
          <a:xfrm>
            <a:off x="1692720" y="1825560"/>
            <a:ext cx="813600" cy="2075040"/>
          </a:xfrm>
          <a:prstGeom prst="rect">
            <a:avLst/>
          </a:prstGeom>
        </p:spPr>
        <p:txBody>
          <a:bodyPr lIns="0" tIns="0" rIns="0" bIns="0">
            <a:normAutofit fontScale="16000"/>
          </a:bodyPr>
          <a:lstStyle/>
          <a:p>
            <a:endParaRPr lang="es-ES" sz="3200" b="0" strike="noStrike" spc="-1">
              <a:latin typeface="Arial"/>
            </a:endParaRPr>
          </a:p>
        </p:txBody>
      </p:sp>
      <p:sp>
        <p:nvSpPr>
          <p:cNvPr id="35" name="PlaceHolder 4"/>
          <p:cNvSpPr>
            <a:spLocks noGrp="1"/>
          </p:cNvSpPr>
          <p:nvPr>
            <p:ph type="body"/>
          </p:nvPr>
        </p:nvSpPr>
        <p:spPr>
          <a:xfrm>
            <a:off x="2547360" y="1825560"/>
            <a:ext cx="813600" cy="2075040"/>
          </a:xfrm>
          <a:prstGeom prst="rect">
            <a:avLst/>
          </a:prstGeom>
        </p:spPr>
        <p:txBody>
          <a:bodyPr lIns="0" tIns="0" rIns="0" bIns="0">
            <a:normAutofit fontScale="16000"/>
          </a:bodyPr>
          <a:lstStyle/>
          <a:p>
            <a:endParaRPr lang="es-ES" sz="3200" b="0" strike="noStrike" spc="-1">
              <a:latin typeface="Arial"/>
            </a:endParaRPr>
          </a:p>
        </p:txBody>
      </p:sp>
      <p:sp>
        <p:nvSpPr>
          <p:cNvPr id="36" name="PlaceHolder 5"/>
          <p:cNvSpPr>
            <a:spLocks noGrp="1"/>
          </p:cNvSpPr>
          <p:nvPr>
            <p:ph type="body"/>
          </p:nvPr>
        </p:nvSpPr>
        <p:spPr>
          <a:xfrm>
            <a:off x="838080" y="4098240"/>
            <a:ext cx="813600" cy="2075040"/>
          </a:xfrm>
          <a:prstGeom prst="rect">
            <a:avLst/>
          </a:prstGeom>
        </p:spPr>
        <p:txBody>
          <a:bodyPr lIns="0" tIns="0" rIns="0" bIns="0">
            <a:normAutofit fontScale="16000"/>
          </a:bodyPr>
          <a:lstStyle/>
          <a:p>
            <a:endParaRPr lang="es-ES" sz="3200" b="0" strike="noStrike" spc="-1">
              <a:latin typeface="Arial"/>
            </a:endParaRPr>
          </a:p>
        </p:txBody>
      </p:sp>
      <p:sp>
        <p:nvSpPr>
          <p:cNvPr id="37" name="PlaceHolder 6"/>
          <p:cNvSpPr>
            <a:spLocks noGrp="1"/>
          </p:cNvSpPr>
          <p:nvPr>
            <p:ph type="body"/>
          </p:nvPr>
        </p:nvSpPr>
        <p:spPr>
          <a:xfrm>
            <a:off x="1692720" y="4098240"/>
            <a:ext cx="813600" cy="2075040"/>
          </a:xfrm>
          <a:prstGeom prst="rect">
            <a:avLst/>
          </a:prstGeom>
        </p:spPr>
        <p:txBody>
          <a:bodyPr lIns="0" tIns="0" rIns="0" bIns="0">
            <a:normAutofit fontScale="16000"/>
          </a:bodyPr>
          <a:lstStyle/>
          <a:p>
            <a:endParaRPr lang="es-ES" sz="3200" b="0" strike="noStrike" spc="-1">
              <a:latin typeface="Arial"/>
            </a:endParaRPr>
          </a:p>
        </p:txBody>
      </p:sp>
      <p:sp>
        <p:nvSpPr>
          <p:cNvPr id="38" name="PlaceHolder 7"/>
          <p:cNvSpPr>
            <a:spLocks noGrp="1"/>
          </p:cNvSpPr>
          <p:nvPr>
            <p:ph type="body"/>
          </p:nvPr>
        </p:nvSpPr>
        <p:spPr>
          <a:xfrm>
            <a:off x="2547360" y="4098240"/>
            <a:ext cx="813600" cy="2075040"/>
          </a:xfrm>
          <a:prstGeom prst="rect">
            <a:avLst/>
          </a:prstGeom>
        </p:spPr>
        <p:txBody>
          <a:bodyPr lIns="0" tIns="0" rIns="0" bIns="0">
            <a:normAutofit fontScale="16000"/>
          </a:bodyPr>
          <a:lstStyle/>
          <a:p>
            <a:endParaRPr lang="es-E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838080" y="365040"/>
            <a:ext cx="10514880" cy="1324800"/>
          </a:xfrm>
          <a:prstGeom prst="rect">
            <a:avLst/>
          </a:prstGeom>
        </p:spPr>
        <p:txBody>
          <a:bodyPr lIns="0" tIns="0" rIns="0" bIns="0" anchor="ctr">
            <a:noAutofit/>
          </a:bodyPr>
          <a:lstStyle/>
          <a:p>
            <a:pPr algn="ctr"/>
            <a:r>
              <a:rPr lang="es-ES" sz="1800" b="0" strike="noStrike" spc="-1">
                <a:latin typeface="Arial"/>
              </a:rPr>
              <a:t>Pulse para editar el formato del texto de título</a:t>
            </a:r>
          </a:p>
        </p:txBody>
      </p:sp>
      <p:sp>
        <p:nvSpPr>
          <p:cNvPr id="4" name="PlaceHolder 2"/>
          <p:cNvSpPr>
            <a:spLocks noGrp="1"/>
          </p:cNvSpPr>
          <p:nvPr>
            <p:ph type="body"/>
          </p:nvPr>
        </p:nvSpPr>
        <p:spPr>
          <a:xfrm>
            <a:off x="838080" y="1825560"/>
            <a:ext cx="2527920" cy="4350600"/>
          </a:xfrm>
          <a:prstGeom prst="rect">
            <a:avLst/>
          </a:prstGeom>
        </p:spPr>
        <p:txBody>
          <a:bodyPr lIns="0" tIns="0" rIns="0" bIns="0">
            <a:normAutofit fontScale="10000"/>
          </a:bodyPr>
          <a:lstStyle/>
          <a:p>
            <a:pPr marL="432000" indent="-324000" algn="ctr">
              <a:spcBef>
                <a:spcPts val="1417"/>
              </a:spcBef>
              <a:buClr>
                <a:srgbClr val="FFFFFF"/>
              </a:buClr>
              <a:buSzPct val="45000"/>
              <a:buFont typeface="Wingdings" charset="2"/>
              <a:buChar char=""/>
            </a:pPr>
            <a:r>
              <a:rPr lang="es-ES" sz="1800" b="0" strike="noStrike" spc="-1">
                <a:latin typeface="Arial"/>
              </a:rPr>
              <a:t>Pulse para editar el formato de texto del esquema</a:t>
            </a:r>
          </a:p>
          <a:p>
            <a:pPr marL="864000" lvl="1" indent="-324000" algn="ctr">
              <a:spcBef>
                <a:spcPts val="1134"/>
              </a:spcBef>
              <a:buClr>
                <a:srgbClr val="FFFFFF"/>
              </a:buClr>
              <a:buSzPct val="75000"/>
              <a:buFont typeface="Symbol" charset="2"/>
              <a:buChar char=""/>
            </a:pPr>
            <a:r>
              <a:rPr lang="es-ES" sz="1800" b="0" strike="noStrike" spc="-1">
                <a:latin typeface="Arial"/>
              </a:rPr>
              <a:t>Segundo nivel del esquema</a:t>
            </a:r>
          </a:p>
          <a:p>
            <a:pPr marL="1296000" lvl="2" indent="-288000" algn="ctr">
              <a:spcBef>
                <a:spcPts val="850"/>
              </a:spcBef>
              <a:buClr>
                <a:srgbClr val="FFFFFF"/>
              </a:buClr>
              <a:buSzPct val="45000"/>
              <a:buFont typeface="Wingdings" charset="2"/>
              <a:buChar char=""/>
            </a:pPr>
            <a:r>
              <a:rPr lang="es-ES" sz="1800" b="0" strike="noStrike" spc="-1">
                <a:latin typeface="Arial"/>
              </a:rPr>
              <a:t>Tercer nivel del esquema</a:t>
            </a:r>
          </a:p>
          <a:p>
            <a:pPr marL="1728000" lvl="3" indent="-216000" algn="ctr">
              <a:spcBef>
                <a:spcPts val="567"/>
              </a:spcBef>
              <a:buClr>
                <a:srgbClr val="FFFFFF"/>
              </a:buClr>
              <a:buSzPct val="75000"/>
              <a:buFont typeface="Symbol" charset="2"/>
              <a:buChar char=""/>
            </a:pPr>
            <a:r>
              <a:rPr lang="es-ES" sz="1800" b="0" strike="noStrike" spc="-1">
                <a:latin typeface="Arial"/>
              </a:rPr>
              <a:t>Cuarto nivel del esquema</a:t>
            </a:r>
          </a:p>
          <a:p>
            <a:pPr marL="2160000" lvl="4" indent="-216000" algn="ctr">
              <a:spcBef>
                <a:spcPts val="283"/>
              </a:spcBef>
              <a:buClr>
                <a:srgbClr val="FFFFFF"/>
              </a:buClr>
              <a:buSzPct val="45000"/>
              <a:buFont typeface="Wingdings" charset="2"/>
              <a:buChar char=""/>
            </a:pPr>
            <a:r>
              <a:rPr lang="es-ES" sz="1800" b="0" strike="noStrike" spc="-1">
                <a:latin typeface="Arial"/>
              </a:rPr>
              <a:t>Quinto nivel del esquema</a:t>
            </a:r>
          </a:p>
          <a:p>
            <a:pPr marL="2592000" lvl="5" indent="-216000" algn="ctr">
              <a:spcBef>
                <a:spcPts val="283"/>
              </a:spcBef>
              <a:buClr>
                <a:srgbClr val="FFFFFF"/>
              </a:buClr>
              <a:buSzPct val="45000"/>
              <a:buFont typeface="Wingdings" charset="2"/>
              <a:buChar char=""/>
            </a:pPr>
            <a:r>
              <a:rPr lang="es-ES" sz="1800" b="0" strike="noStrike" spc="-1">
                <a:latin typeface="Arial"/>
              </a:rPr>
              <a:t>Sexto nivel del esquema</a:t>
            </a:r>
          </a:p>
          <a:p>
            <a:pPr marL="3024000" lvl="6" indent="-216000" algn="ctr">
              <a:spcBef>
                <a:spcPts val="283"/>
              </a:spcBef>
              <a:buClr>
                <a:srgbClr val="FFFFFF"/>
              </a:buClr>
              <a:buSzPct val="45000"/>
              <a:buFont typeface="Wingdings" charset="2"/>
              <a:buChar char=""/>
            </a:pPr>
            <a:r>
              <a:rPr lang="es-ES" sz="1800" b="0" strike="noStrike" spc="-1">
                <a:latin typeface="Arial"/>
              </a:rPr>
              <a:t>Séptimo nivel del esquema</a:t>
            </a:r>
          </a:p>
        </p:txBody>
      </p:sp>
      <p:sp>
        <p:nvSpPr>
          <p:cNvPr id="2" name="PlaceHolder 3"/>
          <p:cNvSpPr>
            <a:spLocks noGrp="1"/>
          </p:cNvSpPr>
          <p:nvPr>
            <p:ph type="body"/>
          </p:nvPr>
        </p:nvSpPr>
        <p:spPr>
          <a:xfrm>
            <a:off x="3493080" y="1825560"/>
            <a:ext cx="2527920" cy="4350600"/>
          </a:xfrm>
          <a:prstGeom prst="rect">
            <a:avLst/>
          </a:prstGeom>
        </p:spPr>
        <p:txBody>
          <a:bodyPr lIns="0" tIns="0" rIns="0" bIns="0">
            <a:normAutofit fontScale="10000"/>
          </a:bodyPr>
          <a:lstStyle/>
          <a:p>
            <a:pPr marL="432000" indent="-324000" algn="ctr">
              <a:spcBef>
                <a:spcPts val="1417"/>
              </a:spcBef>
              <a:buClr>
                <a:srgbClr val="FFFFFF"/>
              </a:buClr>
              <a:buSzPct val="45000"/>
              <a:buFont typeface="Wingdings" charset="2"/>
              <a:buChar char=""/>
            </a:pPr>
            <a:r>
              <a:rPr lang="es-ES" sz="1800" b="0" strike="noStrike" spc="-1">
                <a:latin typeface="Arial"/>
              </a:rPr>
              <a:t>Pulse para editar el formato de texto del esquema</a:t>
            </a:r>
          </a:p>
          <a:p>
            <a:pPr marL="864000" lvl="1" indent="-324000" algn="ctr">
              <a:spcBef>
                <a:spcPts val="1134"/>
              </a:spcBef>
              <a:buClr>
                <a:srgbClr val="FFFFFF"/>
              </a:buClr>
              <a:buSzPct val="75000"/>
              <a:buFont typeface="Symbol" charset="2"/>
              <a:buChar char=""/>
            </a:pPr>
            <a:r>
              <a:rPr lang="es-ES" sz="1800" b="0" strike="noStrike" spc="-1">
                <a:latin typeface="Arial"/>
              </a:rPr>
              <a:t>Segundo nivel del esquema</a:t>
            </a:r>
          </a:p>
          <a:p>
            <a:pPr marL="1296000" lvl="2" indent="-288000" algn="ctr">
              <a:spcBef>
                <a:spcPts val="850"/>
              </a:spcBef>
              <a:buClr>
                <a:srgbClr val="FFFFFF"/>
              </a:buClr>
              <a:buSzPct val="45000"/>
              <a:buFont typeface="Wingdings" charset="2"/>
              <a:buChar char=""/>
            </a:pPr>
            <a:r>
              <a:rPr lang="es-ES" sz="1800" b="0" strike="noStrike" spc="-1">
                <a:latin typeface="Arial"/>
              </a:rPr>
              <a:t>Tercer nivel del esquema</a:t>
            </a:r>
          </a:p>
          <a:p>
            <a:pPr marL="1728000" lvl="3" indent="-216000" algn="ctr">
              <a:spcBef>
                <a:spcPts val="567"/>
              </a:spcBef>
              <a:buClr>
                <a:srgbClr val="FFFFFF"/>
              </a:buClr>
              <a:buSzPct val="75000"/>
              <a:buFont typeface="Symbol" charset="2"/>
              <a:buChar char=""/>
            </a:pPr>
            <a:r>
              <a:rPr lang="es-ES" sz="1800" b="0" strike="noStrike" spc="-1">
                <a:latin typeface="Arial"/>
              </a:rPr>
              <a:t>Cuarto nivel del esquema</a:t>
            </a:r>
          </a:p>
          <a:p>
            <a:pPr marL="2160000" lvl="4" indent="-216000" algn="ctr">
              <a:spcBef>
                <a:spcPts val="283"/>
              </a:spcBef>
              <a:buClr>
                <a:srgbClr val="FFFFFF"/>
              </a:buClr>
              <a:buSzPct val="45000"/>
              <a:buFont typeface="Wingdings" charset="2"/>
              <a:buChar char=""/>
            </a:pPr>
            <a:r>
              <a:rPr lang="es-ES" sz="1800" b="0" strike="noStrike" spc="-1">
                <a:latin typeface="Arial"/>
              </a:rPr>
              <a:t>Quinto nivel del esquema</a:t>
            </a:r>
          </a:p>
          <a:p>
            <a:pPr marL="2592000" lvl="5" indent="-216000" algn="ctr">
              <a:spcBef>
                <a:spcPts val="283"/>
              </a:spcBef>
              <a:buClr>
                <a:srgbClr val="FFFFFF"/>
              </a:buClr>
              <a:buSzPct val="45000"/>
              <a:buFont typeface="Wingdings" charset="2"/>
              <a:buChar char=""/>
            </a:pPr>
            <a:r>
              <a:rPr lang="es-ES" sz="1800" b="0" strike="noStrike" spc="-1">
                <a:latin typeface="Arial"/>
              </a:rPr>
              <a:t>Sexto nivel del esquema</a:t>
            </a:r>
          </a:p>
          <a:p>
            <a:pPr marL="3024000" lvl="6" indent="-216000" algn="ctr">
              <a:spcBef>
                <a:spcPts val="283"/>
              </a:spcBef>
              <a:buClr>
                <a:srgbClr val="FFFFFF"/>
              </a:buClr>
              <a:buSzPct val="45000"/>
              <a:buFont typeface="Wingdings" charset="2"/>
              <a:buChar char=""/>
            </a:pPr>
            <a:r>
              <a:rPr lang="es-ES" sz="18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developers.google.com/machine-learning/crash-course/fitter/graph"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learning.oreilly.com/library/view/hands-on-machine-learning/9781492032632/"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hyperlink" Target="https://towardsdatascience.com/gradient-descent-animation-1-simple-linear-regression-e49315b24672" TargetMode="External"/><Relationship Id="rId5" Type="http://schemas.openxmlformats.org/officeDocument/2006/relationships/hyperlink" Target="https://machinelearningmastery.com/gradient-descent-for-machine-learning/" TargetMode="External"/><Relationship Id="rId4" Type="http://schemas.openxmlformats.org/officeDocument/2006/relationships/hyperlink" Target="https://www.cienciadedatos.net/documentos/py10-regresion-lineal-pyth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stomShape 1"/>
          <p:cNvSpPr/>
          <p:nvPr/>
        </p:nvSpPr>
        <p:spPr>
          <a:xfrm>
            <a:off x="2233440" y="2430000"/>
            <a:ext cx="772488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a:solidFill>
                  <a:srgbClr val="FF0000"/>
                </a:solidFill>
                <a:latin typeface="Calibri Light"/>
              </a:rPr>
              <a:t>Machine Learning  </a:t>
            </a:r>
            <a:br/>
            <a:r>
              <a:rPr lang="es-ES" sz="4400" b="0" strike="noStrike" spc="-1">
                <a:solidFill>
                  <a:srgbClr val="FF0000"/>
                </a:solidFill>
                <a:latin typeface="Calibri Light"/>
              </a:rPr>
              <a:t>Regresión Lineal</a:t>
            </a:r>
            <a:endParaRPr lang="es-ES" sz="44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dirty="0">
                <a:solidFill>
                  <a:srgbClr val="FF0000"/>
                </a:solidFill>
                <a:latin typeface="Calibri Light"/>
              </a:rPr>
              <a:t>Regresión Lineal</a:t>
            </a:r>
            <a:endParaRPr lang="es-ES" sz="4400" b="0" strike="noStrike" spc="-1" dirty="0">
              <a:latin typeface="Arial"/>
            </a:endParaRPr>
          </a:p>
        </p:txBody>
      </p:sp>
      <p:sp>
        <p:nvSpPr>
          <p:cNvPr id="3" name="CuadroTexto 2">
            <a:extLst>
              <a:ext uri="{FF2B5EF4-FFF2-40B4-BE49-F238E27FC236}">
                <a16:creationId xmlns:a16="http://schemas.microsoft.com/office/drawing/2014/main" id="{BBF3AF8E-C76B-40E9-9F33-1A850AF2EF97}"/>
              </a:ext>
            </a:extLst>
          </p:cNvPr>
          <p:cNvSpPr txBox="1"/>
          <p:nvPr/>
        </p:nvSpPr>
        <p:spPr>
          <a:xfrm>
            <a:off x="838080" y="1510040"/>
            <a:ext cx="10337920" cy="646331"/>
          </a:xfrm>
          <a:prstGeom prst="rect">
            <a:avLst/>
          </a:prstGeom>
          <a:noFill/>
        </p:spPr>
        <p:txBody>
          <a:bodyPr wrap="square" rtlCol="0">
            <a:spAutoFit/>
          </a:bodyPr>
          <a:lstStyle/>
          <a:p>
            <a:r>
              <a:rPr lang="es-ES" spc="-1" dirty="0">
                <a:solidFill>
                  <a:srgbClr val="FFFFFF"/>
                </a:solidFill>
                <a:latin typeface="Calibri"/>
              </a:rPr>
              <a:t>Método estadístico que modela la relación entre una variable continua y una o más variables independientes</a:t>
            </a:r>
            <a:endParaRPr lang="es-ES" sz="1800" b="0" strike="noStrike" spc="-1" dirty="0">
              <a:latin typeface="Arial"/>
            </a:endParaRPr>
          </a:p>
          <a:p>
            <a:endParaRPr lang="es-ES" dirty="0">
              <a:solidFill>
                <a:schemeClr val="bg1"/>
              </a:solidFill>
            </a:endParaRPr>
          </a:p>
        </p:txBody>
      </p:sp>
      <p:pic>
        <p:nvPicPr>
          <p:cNvPr id="9" name="Picture 2" descr="Resultado de imagen de regresion lineal">
            <a:extLst>
              <a:ext uri="{FF2B5EF4-FFF2-40B4-BE49-F238E27FC236}">
                <a16:creationId xmlns:a16="http://schemas.microsoft.com/office/drawing/2014/main" id="{F4CDC33F-27C3-4435-8452-E7FEC16C1642}"/>
              </a:ext>
            </a:extLst>
          </p:cNvPr>
          <p:cNvPicPr/>
          <p:nvPr/>
        </p:nvPicPr>
        <p:blipFill>
          <a:blip r:embed="rId3"/>
          <a:stretch/>
        </p:blipFill>
        <p:spPr>
          <a:xfrm>
            <a:off x="875200" y="2455093"/>
            <a:ext cx="3753040" cy="2322801"/>
          </a:xfrm>
          <a:prstGeom prst="rect">
            <a:avLst/>
          </a:prstGeom>
          <a:solidFill>
            <a:schemeClr val="bg1"/>
          </a:solidFill>
          <a:ln w="0">
            <a:noFill/>
          </a:ln>
        </p:spPr>
      </p:pic>
      <p:sp>
        <p:nvSpPr>
          <p:cNvPr id="10" name="CuadroTexto 9">
            <a:extLst>
              <a:ext uri="{FF2B5EF4-FFF2-40B4-BE49-F238E27FC236}">
                <a16:creationId xmlns:a16="http://schemas.microsoft.com/office/drawing/2014/main" id="{72EFC825-9505-4F51-B88C-F7BF293E9D3F}"/>
              </a:ext>
            </a:extLst>
          </p:cNvPr>
          <p:cNvSpPr txBox="1"/>
          <p:nvPr/>
        </p:nvSpPr>
        <p:spPr>
          <a:xfrm>
            <a:off x="5466320" y="2884619"/>
            <a:ext cx="5562720" cy="2031325"/>
          </a:xfrm>
          <a:prstGeom prst="rect">
            <a:avLst/>
          </a:prstGeom>
          <a:noFill/>
        </p:spPr>
        <p:txBody>
          <a:bodyPr wrap="square" rtlCol="0">
            <a:spAutoFit/>
          </a:bodyPr>
          <a:lstStyle/>
          <a:p>
            <a:pPr marL="342900" indent="-342900">
              <a:buAutoNum type="arabicPeriod"/>
            </a:pPr>
            <a:r>
              <a:rPr lang="es-ES" spc="-1" dirty="0">
                <a:solidFill>
                  <a:srgbClr val="FFFFFF"/>
                </a:solidFill>
                <a:latin typeface="Calibri"/>
              </a:rPr>
              <a:t>Estimación de las ventas a partir del gasto en marketing</a:t>
            </a:r>
          </a:p>
          <a:p>
            <a:pPr marL="342900" indent="-342900">
              <a:buAutoNum type="arabicPeriod"/>
            </a:pPr>
            <a:r>
              <a:rPr lang="es-ES" sz="1800" b="0" strike="noStrike" spc="-1" dirty="0">
                <a:solidFill>
                  <a:srgbClr val="FFFFFF"/>
                </a:solidFill>
                <a:latin typeface="Calibri"/>
              </a:rPr>
              <a:t>Estimación del consumo de gasolina en función de</a:t>
            </a:r>
            <a:r>
              <a:rPr lang="es-ES" spc="-1" dirty="0">
                <a:solidFill>
                  <a:srgbClr val="FFFFFF"/>
                </a:solidFill>
                <a:latin typeface="Calibri"/>
              </a:rPr>
              <a:t> la distancia.</a:t>
            </a:r>
          </a:p>
          <a:p>
            <a:pPr marL="342900" indent="-342900">
              <a:buAutoNum type="arabicPeriod"/>
            </a:pPr>
            <a:r>
              <a:rPr lang="es-ES" sz="1800" b="0" strike="noStrike" spc="-1" dirty="0">
                <a:solidFill>
                  <a:srgbClr val="FFFFFF"/>
                </a:solidFill>
                <a:latin typeface="Calibri"/>
              </a:rPr>
              <a:t>Predicción de precios de casas en función de los metros cuadrados (entre otras variables)</a:t>
            </a:r>
            <a:endParaRPr lang="es-ES" sz="1800" b="0" strike="noStrike" spc="-1" dirty="0">
              <a:latin typeface="Arial"/>
            </a:endParaRPr>
          </a:p>
          <a:p>
            <a:endParaRPr lang="es-ES" dirty="0">
              <a:solidFill>
                <a:schemeClr val="bg1"/>
              </a:solidFill>
            </a:endParaRPr>
          </a:p>
        </p:txBody>
      </p:sp>
      <p:pic>
        <p:nvPicPr>
          <p:cNvPr id="11" name="Picture 9">
            <a:extLst>
              <a:ext uri="{FF2B5EF4-FFF2-40B4-BE49-F238E27FC236}">
                <a16:creationId xmlns:a16="http://schemas.microsoft.com/office/drawing/2014/main" id="{1869F1C0-17DE-47AC-917E-0E49769D5281}"/>
              </a:ext>
            </a:extLst>
          </p:cNvPr>
          <p:cNvPicPr/>
          <p:nvPr/>
        </p:nvPicPr>
        <p:blipFill>
          <a:blip r:embed="rId4"/>
          <a:stretch/>
        </p:blipFill>
        <p:spPr>
          <a:xfrm>
            <a:off x="1534160" y="5347960"/>
            <a:ext cx="2389680" cy="948980"/>
          </a:xfrm>
          <a:prstGeom prst="rect">
            <a:avLst/>
          </a:prstGeom>
          <a:ln w="0">
            <a:noFill/>
          </a:ln>
        </p:spPr>
      </p:pic>
      <p:sp>
        <p:nvSpPr>
          <p:cNvPr id="4" name="CuadroTexto 3">
            <a:extLst>
              <a:ext uri="{FF2B5EF4-FFF2-40B4-BE49-F238E27FC236}">
                <a16:creationId xmlns:a16="http://schemas.microsoft.com/office/drawing/2014/main" id="{ADAD2F03-010F-4B0F-A962-9186E517FB6F}"/>
              </a:ext>
            </a:extLst>
          </p:cNvPr>
          <p:cNvSpPr txBox="1"/>
          <p:nvPr/>
        </p:nvSpPr>
        <p:spPr>
          <a:xfrm>
            <a:off x="3987200" y="5619305"/>
            <a:ext cx="1534640" cy="369332"/>
          </a:xfrm>
          <a:prstGeom prst="rect">
            <a:avLst/>
          </a:prstGeom>
          <a:noFill/>
        </p:spPr>
        <p:txBody>
          <a:bodyPr wrap="square" rtlCol="0">
            <a:spAutoFit/>
          </a:bodyPr>
          <a:lstStyle/>
          <a:p>
            <a:pPr algn="ctr"/>
            <a:r>
              <a:rPr lang="es-ES" dirty="0">
                <a:solidFill>
                  <a:schemeClr val="bg1"/>
                </a:solidFill>
              </a:rPr>
              <a:t>Y = 5 + 6X</a:t>
            </a:r>
          </a:p>
        </p:txBody>
      </p:sp>
    </p:spTree>
    <p:extLst>
      <p:ext uri="{BB962C8B-B14F-4D97-AF65-F5344CB8AC3E}">
        <p14:creationId xmlns:p14="http://schemas.microsoft.com/office/powerpoint/2010/main" val="44876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6" name="CustomShape 1"/>
          <p:cNvSpPr/>
          <p:nvPr/>
        </p:nvSpPr>
        <p:spPr>
          <a:xfrm>
            <a:off x="649080" y="629280"/>
            <a:ext cx="4943520" cy="162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en-US" sz="4400" b="0" strike="noStrike" spc="-1" dirty="0" err="1">
                <a:solidFill>
                  <a:srgbClr val="FF0000"/>
                </a:solidFill>
                <a:latin typeface="Calibri Light"/>
              </a:rPr>
              <a:t>Regresión</a:t>
            </a:r>
            <a:r>
              <a:rPr lang="en-US" sz="4400" b="0" strike="noStrike" spc="-1" dirty="0">
                <a:solidFill>
                  <a:srgbClr val="FF0000"/>
                </a:solidFill>
                <a:latin typeface="Calibri Light"/>
              </a:rPr>
              <a:t> Lineal</a:t>
            </a:r>
            <a:endParaRPr lang="es-ES" sz="4400" b="0" strike="noStrike" spc="-1" dirty="0">
              <a:latin typeface="Arial"/>
            </a:endParaRPr>
          </a:p>
        </p:txBody>
      </p:sp>
      <p:sp>
        <p:nvSpPr>
          <p:cNvPr id="47" name="CustomShape 2"/>
          <p:cNvSpPr/>
          <p:nvPr/>
        </p:nvSpPr>
        <p:spPr>
          <a:xfrm>
            <a:off x="649080" y="2438280"/>
            <a:ext cx="4943520" cy="378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lnSpc>
                <a:spcPct val="90000"/>
              </a:lnSpc>
              <a:spcBef>
                <a:spcPts val="1001"/>
              </a:spcBef>
              <a:buClr>
                <a:srgbClr val="FFFFFF"/>
              </a:buClr>
              <a:buFont typeface="Arial"/>
              <a:buChar char="•"/>
            </a:pPr>
            <a:r>
              <a:rPr lang="en-US" sz="1700" b="0" strike="noStrike" spc="-1" dirty="0">
                <a:solidFill>
                  <a:srgbClr val="FFFFFF"/>
                </a:solidFill>
                <a:latin typeface="Calibri"/>
              </a:rPr>
              <a:t>¿Por </a:t>
            </a:r>
            <a:r>
              <a:rPr lang="en-US" sz="1700" b="0" strike="noStrike" spc="-1" dirty="0" err="1">
                <a:solidFill>
                  <a:srgbClr val="FFFFFF"/>
                </a:solidFill>
                <a:latin typeface="Calibri"/>
              </a:rPr>
              <a:t>qué</a:t>
            </a:r>
            <a:r>
              <a:rPr lang="en-US" sz="1700" b="0" strike="noStrike" spc="-1" dirty="0">
                <a:solidFill>
                  <a:srgbClr val="FFFFFF"/>
                </a:solidFill>
                <a:latin typeface="Calibri"/>
              </a:rPr>
              <a:t> </a:t>
            </a:r>
            <a:r>
              <a:rPr lang="en-US" sz="1700" b="0" i="1" u="sng" strike="noStrike" spc="-1" dirty="0" err="1">
                <a:solidFill>
                  <a:srgbClr val="FFFFFF"/>
                </a:solidFill>
                <a:uFillTx/>
                <a:latin typeface="Calibri"/>
              </a:rPr>
              <a:t>regresión</a:t>
            </a:r>
            <a:r>
              <a:rPr lang="en-US" sz="1700" b="0" strike="noStrike" spc="-1" dirty="0">
                <a:solidFill>
                  <a:srgbClr val="FFFFFF"/>
                </a:solidFill>
                <a:latin typeface="Calibri"/>
              </a:rPr>
              <a:t>? </a:t>
            </a:r>
            <a:r>
              <a:rPr lang="en-US" sz="1700" b="0" strike="noStrike" spc="-1" dirty="0" err="1">
                <a:solidFill>
                  <a:srgbClr val="FFFFFF"/>
                </a:solidFill>
                <a:latin typeface="Calibri"/>
              </a:rPr>
              <a:t>Porque</a:t>
            </a:r>
            <a:r>
              <a:rPr lang="en-US" sz="1700" b="0" strike="noStrike" spc="-1" dirty="0">
                <a:solidFill>
                  <a:srgbClr val="FFFFFF"/>
                </a:solidFill>
                <a:latin typeface="Calibri"/>
              </a:rPr>
              <a:t> </a:t>
            </a:r>
            <a:r>
              <a:rPr lang="en-US" sz="1700" b="0" strike="noStrike" spc="-1" dirty="0" err="1">
                <a:solidFill>
                  <a:srgbClr val="FFFFFF"/>
                </a:solidFill>
                <a:latin typeface="Calibri"/>
              </a:rPr>
              <a:t>expresa</a:t>
            </a:r>
            <a:r>
              <a:rPr lang="en-US" sz="1700" b="0" strike="noStrike" spc="-1" dirty="0">
                <a:solidFill>
                  <a:srgbClr val="FFFFFF"/>
                </a:solidFill>
                <a:latin typeface="Calibri"/>
              </a:rPr>
              <a:t> la </a:t>
            </a:r>
            <a:r>
              <a:rPr lang="en-US" sz="1700" b="0" strike="noStrike" spc="-1" dirty="0" err="1">
                <a:solidFill>
                  <a:srgbClr val="FFFFFF"/>
                </a:solidFill>
                <a:latin typeface="Calibri"/>
              </a:rPr>
              <a:t>relación</a:t>
            </a:r>
            <a:r>
              <a:rPr lang="en-US" sz="1700" b="0" strike="noStrike" spc="-1" dirty="0">
                <a:solidFill>
                  <a:srgbClr val="FFFFFF"/>
                </a:solidFill>
                <a:latin typeface="Calibri"/>
              </a:rPr>
              <a:t> entre una variable que se llama </a:t>
            </a:r>
            <a:r>
              <a:rPr lang="en-US" sz="1700" b="0" strike="noStrike" spc="-1" dirty="0" err="1">
                <a:solidFill>
                  <a:srgbClr val="FFFFFF"/>
                </a:solidFill>
                <a:latin typeface="Calibri"/>
              </a:rPr>
              <a:t>regresando</a:t>
            </a:r>
            <a:r>
              <a:rPr lang="en-US" sz="1700" b="0" strike="noStrike" spc="-1" dirty="0">
                <a:solidFill>
                  <a:srgbClr val="FFFFFF"/>
                </a:solidFill>
                <a:latin typeface="Calibri"/>
              </a:rPr>
              <a:t> (y, </a:t>
            </a:r>
            <a:r>
              <a:rPr lang="en-US" sz="1700" b="0" strike="noStrike" spc="-1" dirty="0" err="1">
                <a:solidFill>
                  <a:srgbClr val="FFFFFF"/>
                </a:solidFill>
                <a:latin typeface="Calibri"/>
              </a:rPr>
              <a:t>dependiente</a:t>
            </a:r>
            <a:r>
              <a:rPr lang="en-US" sz="1700" b="0" strike="noStrike" spc="-1" dirty="0">
                <a:solidFill>
                  <a:srgbClr val="FFFFFF"/>
                </a:solidFill>
                <a:latin typeface="Calibri"/>
              </a:rPr>
              <a:t>) y </a:t>
            </a:r>
            <a:r>
              <a:rPr lang="en-US" sz="1700" b="0" strike="noStrike" spc="-1" dirty="0" err="1">
                <a:solidFill>
                  <a:srgbClr val="FFFFFF"/>
                </a:solidFill>
                <a:latin typeface="Calibri"/>
              </a:rPr>
              <a:t>otra</a:t>
            </a:r>
            <a:r>
              <a:rPr lang="en-US" sz="1700" b="0" strike="noStrike" spc="-1" dirty="0">
                <a:solidFill>
                  <a:srgbClr val="FFFFFF"/>
                </a:solidFill>
                <a:latin typeface="Calibri"/>
              </a:rPr>
              <a:t> que se llama </a:t>
            </a:r>
            <a:r>
              <a:rPr lang="en-US" sz="1700" b="0" strike="noStrike" spc="-1" dirty="0" err="1">
                <a:solidFill>
                  <a:srgbClr val="FFFFFF"/>
                </a:solidFill>
                <a:latin typeface="Calibri"/>
              </a:rPr>
              <a:t>regresor</a:t>
            </a:r>
            <a:r>
              <a:rPr lang="en-US" sz="1700" b="0" strike="noStrike" spc="-1" dirty="0">
                <a:solidFill>
                  <a:srgbClr val="FFFFFF"/>
                </a:solidFill>
                <a:latin typeface="Calibri"/>
              </a:rPr>
              <a:t> (x, </a:t>
            </a:r>
            <a:r>
              <a:rPr lang="en-US" sz="1700" b="0" strike="noStrike" spc="-1" dirty="0" err="1">
                <a:solidFill>
                  <a:srgbClr val="FFFFFF"/>
                </a:solidFill>
                <a:latin typeface="Calibri"/>
              </a:rPr>
              <a:t>independiente</a:t>
            </a:r>
            <a:r>
              <a:rPr lang="en-US" sz="1700" b="0" strike="noStrike" spc="-1" dirty="0">
                <a:solidFill>
                  <a:srgbClr val="FFFFFF"/>
                </a:solidFill>
                <a:latin typeface="Calibri"/>
              </a:rPr>
              <a:t>).</a:t>
            </a:r>
            <a:endParaRPr lang="es-ES" sz="1700" b="0" strike="noStrike" spc="-1" dirty="0">
              <a:latin typeface="Arial"/>
            </a:endParaRPr>
          </a:p>
          <a:p>
            <a:pPr marL="228600" indent="-227880">
              <a:lnSpc>
                <a:spcPct val="90000"/>
              </a:lnSpc>
              <a:spcBef>
                <a:spcPts val="1001"/>
              </a:spcBef>
              <a:buClr>
                <a:srgbClr val="FFFFFF"/>
              </a:buClr>
              <a:buFont typeface="Arial"/>
              <a:buChar char="•"/>
            </a:pPr>
            <a:r>
              <a:rPr lang="en-US" sz="1700" b="0" strike="noStrike" spc="-1" dirty="0">
                <a:solidFill>
                  <a:srgbClr val="FFFFFF"/>
                </a:solidFill>
                <a:latin typeface="Calibri"/>
              </a:rPr>
              <a:t>¿Por </a:t>
            </a:r>
            <a:r>
              <a:rPr lang="en-US" sz="1700" b="0" strike="noStrike" spc="-1" dirty="0" err="1">
                <a:solidFill>
                  <a:srgbClr val="FFFFFF"/>
                </a:solidFill>
                <a:latin typeface="Calibri"/>
              </a:rPr>
              <a:t>qué</a:t>
            </a:r>
            <a:r>
              <a:rPr lang="en-US" sz="1700" b="0" strike="noStrike" spc="-1" dirty="0">
                <a:solidFill>
                  <a:srgbClr val="FFFFFF"/>
                </a:solidFill>
                <a:latin typeface="Calibri"/>
              </a:rPr>
              <a:t> </a:t>
            </a:r>
            <a:r>
              <a:rPr lang="en-US" sz="1700" b="0" i="1" u="sng" strike="noStrike" spc="-1" dirty="0">
                <a:solidFill>
                  <a:srgbClr val="FFFFFF"/>
                </a:solidFill>
                <a:uFillTx/>
                <a:latin typeface="Calibri"/>
              </a:rPr>
              <a:t>lineal</a:t>
            </a:r>
            <a:r>
              <a:rPr lang="en-US" sz="1700" b="0" strike="noStrike" spc="-1" dirty="0">
                <a:solidFill>
                  <a:srgbClr val="FFFFFF"/>
                </a:solidFill>
                <a:latin typeface="Calibri"/>
              </a:rPr>
              <a:t>? </a:t>
            </a:r>
            <a:r>
              <a:rPr lang="es-ES" sz="1700" b="0" strike="noStrike" spc="-1" dirty="0">
                <a:solidFill>
                  <a:srgbClr val="FFFFFF"/>
                </a:solidFill>
                <a:latin typeface="Calibri"/>
              </a:rPr>
              <a:t>Los parámetros de la ecuación se incorporan de forma lineal</a:t>
            </a:r>
            <a:endParaRPr lang="es-ES" sz="1700" b="0" strike="noStrike" spc="-1" dirty="0">
              <a:latin typeface="Arial"/>
            </a:endParaRPr>
          </a:p>
          <a:p>
            <a:pPr marL="228600" indent="-227880">
              <a:lnSpc>
                <a:spcPct val="90000"/>
              </a:lnSpc>
              <a:spcBef>
                <a:spcPts val="1001"/>
              </a:spcBef>
              <a:buClr>
                <a:srgbClr val="FFFFFF"/>
              </a:buClr>
              <a:buFont typeface="Arial"/>
              <a:buChar char="•"/>
            </a:pPr>
            <a:r>
              <a:rPr lang="en-US" sz="1700" b="0" strike="noStrike" spc="-1" dirty="0">
                <a:solidFill>
                  <a:srgbClr val="FFFFFF"/>
                </a:solidFill>
                <a:latin typeface="Calibri"/>
              </a:rPr>
              <a:t>Es una </a:t>
            </a:r>
            <a:r>
              <a:rPr lang="en-US" sz="1700" b="0" i="1" u="sng" strike="noStrike" spc="-1" dirty="0" err="1">
                <a:solidFill>
                  <a:srgbClr val="FFFFFF"/>
                </a:solidFill>
                <a:uFillTx/>
                <a:latin typeface="Calibri"/>
              </a:rPr>
              <a:t>técnica</a:t>
            </a:r>
            <a:r>
              <a:rPr lang="en-US" sz="1700" b="0" i="1" u="sng" strike="noStrike" spc="-1" dirty="0">
                <a:solidFill>
                  <a:srgbClr val="FFFFFF"/>
                </a:solidFill>
                <a:uFillTx/>
                <a:latin typeface="Calibri"/>
              </a:rPr>
              <a:t> </a:t>
            </a:r>
            <a:r>
              <a:rPr lang="en-US" sz="1700" b="0" i="1" u="sng" strike="noStrike" spc="-1" dirty="0" err="1">
                <a:solidFill>
                  <a:srgbClr val="FFFFFF"/>
                </a:solidFill>
                <a:uFillTx/>
                <a:latin typeface="Calibri"/>
              </a:rPr>
              <a:t>paramétrica</a:t>
            </a:r>
            <a:r>
              <a:rPr lang="en-US" sz="1700" b="0" strike="noStrike" spc="-1" dirty="0">
                <a:solidFill>
                  <a:srgbClr val="FFFFFF"/>
                </a:solidFill>
                <a:latin typeface="Calibri"/>
              </a:rPr>
              <a:t> </a:t>
            </a:r>
            <a:r>
              <a:rPr lang="en-US" sz="1700" b="0" strike="noStrike" spc="-1" dirty="0" err="1">
                <a:solidFill>
                  <a:srgbClr val="FFFFFF"/>
                </a:solidFill>
                <a:latin typeface="Calibri"/>
              </a:rPr>
              <a:t>porque</a:t>
            </a:r>
            <a:r>
              <a:rPr lang="en-US" sz="1700" b="0" strike="noStrike" spc="-1" dirty="0">
                <a:solidFill>
                  <a:srgbClr val="FFFFFF"/>
                </a:solidFill>
                <a:latin typeface="Calibri"/>
              </a:rPr>
              <a:t> </a:t>
            </a:r>
            <a:r>
              <a:rPr lang="en-US" sz="1700" b="0" strike="noStrike" spc="-1" dirty="0" err="1">
                <a:solidFill>
                  <a:srgbClr val="FFFFFF"/>
                </a:solidFill>
                <a:latin typeface="Calibri"/>
              </a:rPr>
              <a:t>hace</a:t>
            </a:r>
            <a:r>
              <a:rPr lang="en-US" sz="1700" b="0" strike="noStrike" spc="-1" dirty="0">
                <a:solidFill>
                  <a:srgbClr val="FFFFFF"/>
                </a:solidFill>
                <a:latin typeface="Calibri"/>
              </a:rPr>
              <a:t> </a:t>
            </a:r>
            <a:r>
              <a:rPr lang="en-US" sz="1700" b="0" strike="noStrike" spc="-1" dirty="0" err="1">
                <a:solidFill>
                  <a:srgbClr val="FFFFFF"/>
                </a:solidFill>
                <a:latin typeface="Calibri"/>
              </a:rPr>
              <a:t>varias</a:t>
            </a:r>
            <a:r>
              <a:rPr lang="en-US" sz="1700" b="0" strike="noStrike" spc="-1" dirty="0">
                <a:solidFill>
                  <a:srgbClr val="FFFFFF"/>
                </a:solidFill>
                <a:latin typeface="Calibri"/>
              </a:rPr>
              <a:t> </a:t>
            </a:r>
            <a:r>
              <a:rPr lang="en-US" sz="1700" b="0" strike="noStrike" spc="-1" dirty="0" err="1">
                <a:solidFill>
                  <a:srgbClr val="FFFFFF"/>
                </a:solidFill>
                <a:latin typeface="Calibri"/>
              </a:rPr>
              <a:t>suposiciones</a:t>
            </a:r>
            <a:r>
              <a:rPr lang="en-US" sz="1700" b="0" strike="noStrike" spc="-1" dirty="0">
                <a:solidFill>
                  <a:srgbClr val="FFFFFF"/>
                </a:solidFill>
                <a:latin typeface="Calibri"/>
              </a:rPr>
              <a:t> </a:t>
            </a:r>
            <a:r>
              <a:rPr lang="en-US" sz="1700" b="0" strike="noStrike" spc="-1" dirty="0" err="1">
                <a:solidFill>
                  <a:srgbClr val="FFFFFF"/>
                </a:solidFill>
                <a:latin typeface="Calibri"/>
              </a:rPr>
              <a:t>sobre</a:t>
            </a:r>
            <a:r>
              <a:rPr lang="en-US" sz="1700" b="0" strike="noStrike" spc="-1" dirty="0">
                <a:solidFill>
                  <a:srgbClr val="FFFFFF"/>
                </a:solidFill>
                <a:latin typeface="Calibri"/>
              </a:rPr>
              <a:t> </a:t>
            </a:r>
            <a:r>
              <a:rPr lang="en-US" sz="1700" b="0" strike="noStrike" spc="-1" dirty="0" err="1">
                <a:solidFill>
                  <a:srgbClr val="FFFFFF"/>
                </a:solidFill>
                <a:latin typeface="Calibri"/>
              </a:rPr>
              <a:t>el</a:t>
            </a:r>
            <a:r>
              <a:rPr lang="en-US" sz="1700" b="0" strike="noStrike" spc="-1" dirty="0">
                <a:solidFill>
                  <a:srgbClr val="FFFFFF"/>
                </a:solidFill>
                <a:latin typeface="Calibri"/>
              </a:rPr>
              <a:t> conjunto de </a:t>
            </a:r>
            <a:r>
              <a:rPr lang="en-US" sz="1700" b="0" strike="noStrike" spc="-1" dirty="0" err="1">
                <a:solidFill>
                  <a:srgbClr val="FFFFFF"/>
                </a:solidFill>
                <a:latin typeface="Calibri"/>
              </a:rPr>
              <a:t>datos</a:t>
            </a:r>
            <a:r>
              <a:rPr lang="en-US" sz="1700" b="0" strike="noStrike" spc="-1" dirty="0">
                <a:solidFill>
                  <a:srgbClr val="FFFFFF"/>
                </a:solidFill>
                <a:latin typeface="Calibri"/>
              </a:rPr>
              <a:t>.</a:t>
            </a:r>
            <a:endParaRPr lang="es-ES" sz="1700" b="0" strike="noStrike" spc="-1" dirty="0">
              <a:latin typeface="Arial"/>
            </a:endParaRPr>
          </a:p>
          <a:p>
            <a:pPr marL="228600" indent="-227880">
              <a:lnSpc>
                <a:spcPct val="90000"/>
              </a:lnSpc>
              <a:spcBef>
                <a:spcPts val="1001"/>
              </a:spcBef>
              <a:buClr>
                <a:srgbClr val="FFFFFF"/>
              </a:buClr>
              <a:buFont typeface="Arial"/>
              <a:buChar char="•"/>
            </a:pPr>
            <a:r>
              <a:rPr lang="en-US" sz="1700" b="0" strike="noStrike" spc="-1" dirty="0">
                <a:solidFill>
                  <a:srgbClr val="FFFFFF"/>
                </a:solidFill>
                <a:latin typeface="Calibri"/>
              </a:rPr>
              <a:t>Uno de los </a:t>
            </a:r>
            <a:r>
              <a:rPr lang="en-US" sz="1700" b="0" strike="noStrike" spc="-1" dirty="0" err="1">
                <a:solidFill>
                  <a:srgbClr val="FFFFFF"/>
                </a:solidFill>
                <a:latin typeface="Calibri"/>
              </a:rPr>
              <a:t>métodos</a:t>
            </a:r>
            <a:r>
              <a:rPr lang="en-US" sz="1700" b="0" strike="noStrike" spc="-1" dirty="0">
                <a:solidFill>
                  <a:srgbClr val="FFFFFF"/>
                </a:solidFill>
                <a:latin typeface="Calibri"/>
              </a:rPr>
              <a:t> </a:t>
            </a:r>
            <a:r>
              <a:rPr lang="en-US" sz="1700" b="0" strike="noStrike" spc="-1" dirty="0" err="1">
                <a:solidFill>
                  <a:srgbClr val="FFFFFF"/>
                </a:solidFill>
                <a:latin typeface="Calibri"/>
              </a:rPr>
              <a:t>estadísticos</a:t>
            </a:r>
            <a:r>
              <a:rPr lang="en-US" sz="1700" b="0" strike="noStrike" spc="-1" dirty="0">
                <a:solidFill>
                  <a:srgbClr val="FFFFFF"/>
                </a:solidFill>
                <a:latin typeface="Calibri"/>
              </a:rPr>
              <a:t> de </a:t>
            </a:r>
            <a:r>
              <a:rPr lang="en-US" sz="1700" b="0" strike="noStrike" spc="-1" dirty="0" err="1">
                <a:solidFill>
                  <a:srgbClr val="FFFFFF"/>
                </a:solidFill>
                <a:latin typeface="Calibri"/>
              </a:rPr>
              <a:t>predicción</a:t>
            </a:r>
            <a:r>
              <a:rPr lang="en-US" sz="1700" b="0" strike="noStrike" spc="-1" dirty="0">
                <a:solidFill>
                  <a:srgbClr val="FFFFFF"/>
                </a:solidFill>
                <a:latin typeface="Calibri"/>
              </a:rPr>
              <a:t> </a:t>
            </a:r>
            <a:r>
              <a:rPr lang="en-US" sz="1700" b="0" strike="noStrike" spc="-1" dirty="0" err="1">
                <a:solidFill>
                  <a:srgbClr val="FFFFFF"/>
                </a:solidFill>
                <a:latin typeface="Calibri"/>
              </a:rPr>
              <a:t>más</a:t>
            </a:r>
            <a:r>
              <a:rPr lang="en-US" sz="1700" b="0" strike="noStrike" spc="-1" dirty="0">
                <a:solidFill>
                  <a:srgbClr val="FFFFFF"/>
                </a:solidFill>
                <a:latin typeface="Calibri"/>
              </a:rPr>
              <a:t> </a:t>
            </a:r>
            <a:r>
              <a:rPr lang="en-US" sz="1700" b="0" strike="noStrike" spc="-1" dirty="0" err="1">
                <a:solidFill>
                  <a:srgbClr val="FFFFFF"/>
                </a:solidFill>
                <a:latin typeface="Calibri"/>
              </a:rPr>
              <a:t>utilizados</a:t>
            </a:r>
            <a:r>
              <a:rPr lang="en-US" sz="1700" b="0" strike="noStrike" spc="-1" dirty="0">
                <a:solidFill>
                  <a:srgbClr val="FFFFFF"/>
                </a:solidFill>
                <a:latin typeface="Calibri"/>
              </a:rPr>
              <a:t>. </a:t>
            </a:r>
            <a:endParaRPr lang="es-ES" sz="1700" b="0" strike="noStrike" spc="-1" dirty="0">
              <a:latin typeface="Arial"/>
            </a:endParaRPr>
          </a:p>
          <a:p>
            <a:pPr>
              <a:lnSpc>
                <a:spcPct val="90000"/>
              </a:lnSpc>
              <a:spcBef>
                <a:spcPts val="1001"/>
              </a:spcBef>
            </a:pPr>
            <a:endParaRPr lang="es-ES" sz="1700" b="0" strike="noStrike" spc="-1" dirty="0">
              <a:latin typeface="Arial"/>
            </a:endParaRPr>
          </a:p>
        </p:txBody>
      </p:sp>
      <p:sp>
        <p:nvSpPr>
          <p:cNvPr id="48" name="CustomShape 3"/>
          <p:cNvSpPr/>
          <p:nvPr/>
        </p:nvSpPr>
        <p:spPr>
          <a:xfrm>
            <a:off x="6093000" y="0"/>
            <a:ext cx="6098400" cy="685728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49" name="CustomShape 4"/>
          <p:cNvSpPr/>
          <p:nvPr/>
        </p:nvSpPr>
        <p:spPr>
          <a:xfrm>
            <a:off x="6577560" y="557640"/>
            <a:ext cx="5129640" cy="5738400"/>
          </a:xfrm>
          <a:prstGeom prst="roundRect">
            <a:avLst>
              <a:gd name="adj" fmla="val 0"/>
            </a:avLst>
          </a:prstGeom>
          <a:solidFill>
            <a:srgbClr val="FFFFFF"/>
          </a:solidFill>
          <a:ln w="9525">
            <a:solidFill>
              <a:srgbClr val="C8CACA"/>
            </a:solidFill>
          </a:ln>
          <a:effectLst>
            <a:outerShdw blurRad="57150" dist="19080" dir="5400000" algn="t" rotWithShape="0">
              <a:srgbClr val="000000">
                <a:alpha val="63000"/>
              </a:srgbClr>
            </a:outerShdw>
          </a:effectLst>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50" name="Picture 2" descr="Resultado de imagen de regresion lineal"/>
          <p:cNvPicPr/>
          <p:nvPr/>
        </p:nvPicPr>
        <p:blipFill>
          <a:blip r:embed="rId3"/>
          <a:stretch/>
        </p:blipFill>
        <p:spPr>
          <a:xfrm>
            <a:off x="6904800" y="1950480"/>
            <a:ext cx="4474800" cy="295308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Tipos de regresión lineal</a:t>
            </a:r>
            <a:endParaRPr lang="es-ES" sz="4400" b="0" strike="noStrike" spc="-1">
              <a:latin typeface="Arial"/>
            </a:endParaRPr>
          </a:p>
        </p:txBody>
      </p:sp>
      <p:sp>
        <p:nvSpPr>
          <p:cNvPr id="52" name="CustomShape 2"/>
          <p:cNvSpPr/>
          <p:nvPr/>
        </p:nvSpPr>
        <p:spPr>
          <a:xfrm>
            <a:off x="6555960" y="5503325"/>
            <a:ext cx="4106640" cy="114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1"/>
              </a:spcBef>
              <a:tabLst>
                <a:tab pos="0" algn="l"/>
              </a:tabLst>
            </a:pPr>
            <a:r>
              <a:rPr lang="es-ES" sz="1800" b="0" strike="noStrike" spc="-1" dirty="0">
                <a:solidFill>
                  <a:srgbClr val="FFFFFF"/>
                </a:solidFill>
                <a:latin typeface="Calibri"/>
              </a:rPr>
              <a:t>Regresión lineal múltiple</a:t>
            </a:r>
            <a:endParaRPr lang="es-ES" sz="1800" b="0" strike="noStrike" spc="-1" dirty="0">
              <a:solidFill>
                <a:schemeClr val="bg1"/>
              </a:solidFill>
              <a:latin typeface="Calibri"/>
            </a:endParaRPr>
          </a:p>
          <a:p>
            <a:pPr algn="ctr">
              <a:lnSpc>
                <a:spcPct val="90000"/>
              </a:lnSpc>
              <a:spcBef>
                <a:spcPts val="1001"/>
              </a:spcBef>
              <a:tabLst>
                <a:tab pos="0" algn="l"/>
              </a:tabLst>
            </a:pPr>
            <a:endParaRPr lang="es-ES" spc="-1" dirty="0">
              <a:solidFill>
                <a:schemeClr val="bg1"/>
              </a:solidFill>
              <a:latin typeface="Calibri"/>
            </a:endParaRPr>
          </a:p>
          <a:p>
            <a:pPr algn="ctr">
              <a:lnSpc>
                <a:spcPct val="90000"/>
              </a:lnSpc>
              <a:spcBef>
                <a:spcPts val="1001"/>
              </a:spcBef>
              <a:tabLst>
                <a:tab pos="0" algn="l"/>
              </a:tabLst>
            </a:pPr>
            <a:r>
              <a:rPr lang="es-ES" sz="1800" b="0" strike="noStrike" spc="-1" dirty="0">
                <a:solidFill>
                  <a:schemeClr val="bg1"/>
                </a:solidFill>
                <a:latin typeface="Arial"/>
              </a:rPr>
              <a:t>Y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X</a:t>
            </a:r>
            <a:r>
              <a:rPr lang="es-ES" spc="-1" baseline="-25000" dirty="0">
                <a:solidFill>
                  <a:schemeClr val="bg1"/>
                </a:solidFill>
                <a:latin typeface="Arial"/>
              </a:rPr>
              <a:t>1</a:t>
            </a:r>
            <a:r>
              <a:rPr lang="es-ES" sz="1800" b="0" strike="noStrike" spc="-1" dirty="0">
                <a:solidFill>
                  <a:schemeClr val="bg1"/>
                </a:solidFill>
                <a:latin typeface="Arial"/>
              </a:rPr>
              <a:t> + β</a:t>
            </a:r>
            <a:r>
              <a:rPr lang="es-ES" spc="-1" baseline="-25000" dirty="0">
                <a:solidFill>
                  <a:schemeClr val="bg1"/>
                </a:solidFill>
                <a:latin typeface="Arial"/>
              </a:rPr>
              <a:t>2</a:t>
            </a:r>
            <a:r>
              <a:rPr lang="es-ES" sz="1800" b="0" strike="noStrike" spc="-1" dirty="0">
                <a:solidFill>
                  <a:schemeClr val="bg1"/>
                </a:solidFill>
                <a:latin typeface="Arial"/>
              </a:rPr>
              <a:t>X</a:t>
            </a:r>
            <a:r>
              <a:rPr lang="es-ES" spc="-1" baseline="-25000" dirty="0">
                <a:solidFill>
                  <a:schemeClr val="bg1"/>
                </a:solidFill>
                <a:latin typeface="Arial"/>
              </a:rPr>
              <a:t>2</a:t>
            </a:r>
            <a:r>
              <a:rPr lang="es-ES" sz="1800" b="0" strike="noStrike" spc="-1" dirty="0">
                <a:solidFill>
                  <a:schemeClr val="bg1"/>
                </a:solidFill>
                <a:latin typeface="Arial"/>
              </a:rPr>
              <a:t> + …. +β</a:t>
            </a:r>
            <a:r>
              <a:rPr lang="es-ES" spc="-1" baseline="-25000" dirty="0" err="1">
                <a:solidFill>
                  <a:schemeClr val="bg1"/>
                </a:solidFill>
                <a:latin typeface="Arial"/>
              </a:rPr>
              <a:t>j</a:t>
            </a:r>
            <a:r>
              <a:rPr lang="es-ES" sz="1800" b="0" strike="noStrike" spc="-1" dirty="0" err="1">
                <a:solidFill>
                  <a:schemeClr val="bg1"/>
                </a:solidFill>
                <a:latin typeface="Arial"/>
              </a:rPr>
              <a:t>X</a:t>
            </a:r>
            <a:r>
              <a:rPr lang="es-ES" spc="-1" baseline="-25000" dirty="0" err="1">
                <a:solidFill>
                  <a:schemeClr val="bg1"/>
                </a:solidFill>
                <a:latin typeface="Arial"/>
              </a:rPr>
              <a:t>j</a:t>
            </a:r>
            <a:endParaRPr lang="es-ES" spc="-1" baseline="-25000" dirty="0">
              <a:solidFill>
                <a:schemeClr val="bg1"/>
              </a:solidFill>
              <a:latin typeface="Arial"/>
            </a:endParaRPr>
          </a:p>
        </p:txBody>
      </p:sp>
      <p:pic>
        <p:nvPicPr>
          <p:cNvPr id="53" name="Picture 5"/>
          <p:cNvPicPr/>
          <p:nvPr/>
        </p:nvPicPr>
        <p:blipFill>
          <a:blip r:embed="rId3"/>
          <a:stretch/>
        </p:blipFill>
        <p:spPr>
          <a:xfrm>
            <a:off x="6325980" y="2615520"/>
            <a:ext cx="4336620" cy="2541240"/>
          </a:xfrm>
          <a:prstGeom prst="rect">
            <a:avLst/>
          </a:prstGeom>
          <a:ln w="0">
            <a:noFill/>
          </a:ln>
        </p:spPr>
      </p:pic>
      <p:sp>
        <p:nvSpPr>
          <p:cNvPr id="54" name="CustomShape 3"/>
          <p:cNvSpPr/>
          <p:nvPr/>
        </p:nvSpPr>
        <p:spPr>
          <a:xfrm>
            <a:off x="1374140" y="5534760"/>
            <a:ext cx="3580338" cy="11988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es-ES" sz="1800" b="0" strike="noStrike" spc="-1" dirty="0">
                <a:solidFill>
                  <a:srgbClr val="FFFFFF"/>
                </a:solidFill>
                <a:latin typeface="Calibri"/>
                <a:ea typeface="DejaVu Sans"/>
              </a:rPr>
              <a:t>Regresión lineal simple</a:t>
            </a:r>
          </a:p>
          <a:p>
            <a:pPr algn="ctr">
              <a:lnSpc>
                <a:spcPct val="100000"/>
              </a:lnSpc>
            </a:pPr>
            <a:endParaRPr lang="es-ES" spc="-1" dirty="0">
              <a:solidFill>
                <a:srgbClr val="FFFFFF"/>
              </a:solidFill>
              <a:latin typeface="Calibri"/>
            </a:endParaRPr>
          </a:p>
          <a:p>
            <a:pPr algn="ctr"/>
            <a:r>
              <a:rPr lang="es-ES" sz="1800" b="0" strike="noStrike" spc="-1" dirty="0">
                <a:solidFill>
                  <a:schemeClr val="bg1"/>
                </a:solidFill>
                <a:latin typeface="Arial"/>
              </a:rPr>
              <a:t>Y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X</a:t>
            </a:r>
            <a:r>
              <a:rPr lang="es-ES" spc="-1" baseline="-25000" dirty="0">
                <a:solidFill>
                  <a:schemeClr val="bg1"/>
                </a:solidFill>
                <a:latin typeface="Arial"/>
              </a:rPr>
              <a:t>1</a:t>
            </a:r>
          </a:p>
          <a:p>
            <a:pPr algn="ctr">
              <a:lnSpc>
                <a:spcPct val="100000"/>
              </a:lnSpc>
            </a:pPr>
            <a:endParaRPr lang="es-ES" sz="1800" b="0" strike="noStrike" spc="-1" dirty="0">
              <a:latin typeface="Arial"/>
            </a:endParaRPr>
          </a:p>
        </p:txBody>
      </p:sp>
      <p:pic>
        <p:nvPicPr>
          <p:cNvPr id="55" name="Picture 31"/>
          <p:cNvPicPr/>
          <p:nvPr/>
        </p:nvPicPr>
        <p:blipFill>
          <a:blip r:embed="rId4"/>
          <a:stretch/>
        </p:blipFill>
        <p:spPr>
          <a:xfrm>
            <a:off x="1188260" y="2615520"/>
            <a:ext cx="3898080" cy="2541240"/>
          </a:xfrm>
          <a:prstGeom prst="rect">
            <a:avLst/>
          </a:prstGeom>
          <a:ln w="0">
            <a:noFill/>
          </a:ln>
        </p:spPr>
      </p:pic>
      <p:pic>
        <p:nvPicPr>
          <p:cNvPr id="3" name="Imagen 2">
            <a:extLst>
              <a:ext uri="{FF2B5EF4-FFF2-40B4-BE49-F238E27FC236}">
                <a16:creationId xmlns:a16="http://schemas.microsoft.com/office/drawing/2014/main" id="{08747C93-0BA1-4986-990D-2F311487F8B6}"/>
              </a:ext>
            </a:extLst>
          </p:cNvPr>
          <p:cNvPicPr>
            <a:picLocks noChangeAspect="1"/>
          </p:cNvPicPr>
          <p:nvPr/>
        </p:nvPicPr>
        <p:blipFill>
          <a:blip r:embed="rId5"/>
          <a:stretch>
            <a:fillRect/>
          </a:stretch>
        </p:blipFill>
        <p:spPr>
          <a:xfrm>
            <a:off x="6915960" y="751712"/>
            <a:ext cx="4803464" cy="1197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dirty="0">
                <a:solidFill>
                  <a:srgbClr val="FF0000"/>
                </a:solidFill>
                <a:latin typeface="Calibri Light"/>
              </a:rPr>
              <a:t>¿Qué son los coeficientes?</a:t>
            </a:r>
            <a:endParaRPr lang="es-ES" sz="4400" b="0" strike="noStrike" spc="-1" dirty="0">
              <a:latin typeface="Arial"/>
            </a:endParaRPr>
          </a:p>
        </p:txBody>
      </p:sp>
      <p:sp>
        <p:nvSpPr>
          <p:cNvPr id="10" name="CuadroTexto 9">
            <a:extLst>
              <a:ext uri="{FF2B5EF4-FFF2-40B4-BE49-F238E27FC236}">
                <a16:creationId xmlns:a16="http://schemas.microsoft.com/office/drawing/2014/main" id="{72EFC825-9505-4F51-B88C-F7BF293E9D3F}"/>
              </a:ext>
            </a:extLst>
          </p:cNvPr>
          <p:cNvSpPr txBox="1"/>
          <p:nvPr/>
        </p:nvSpPr>
        <p:spPr>
          <a:xfrm>
            <a:off x="944880" y="2167741"/>
            <a:ext cx="8676640" cy="923330"/>
          </a:xfrm>
          <a:prstGeom prst="rect">
            <a:avLst/>
          </a:prstGeom>
          <a:noFill/>
        </p:spPr>
        <p:txBody>
          <a:bodyPr wrap="square" rtlCol="0">
            <a:spAutoFit/>
          </a:bodyPr>
          <a:lstStyle/>
          <a:p>
            <a:pPr marL="342900" indent="-342900">
              <a:buAutoNum type="arabicPeriod"/>
            </a:pPr>
            <a:r>
              <a:rPr lang="es-ES" sz="1800" b="0" strike="noStrike" spc="-1" dirty="0">
                <a:solidFill>
                  <a:schemeClr val="bg1"/>
                </a:solidFill>
                <a:latin typeface="Arial"/>
              </a:rPr>
              <a:t>β</a:t>
            </a:r>
            <a:r>
              <a:rPr lang="es-ES" sz="1800" b="0" strike="noStrike" spc="-1" baseline="-25000" dirty="0">
                <a:solidFill>
                  <a:schemeClr val="bg1"/>
                </a:solidFill>
                <a:latin typeface="Arial"/>
              </a:rPr>
              <a:t>0</a:t>
            </a:r>
            <a:r>
              <a:rPr lang="es-ES" sz="1800" b="0" strike="noStrike" spc="-1" dirty="0">
                <a:solidFill>
                  <a:schemeClr val="bg1"/>
                </a:solidFill>
                <a:latin typeface="Arial"/>
              </a:rPr>
              <a:t>: valor de variable respuesta para cuando todos los predictores son 0</a:t>
            </a:r>
          </a:p>
          <a:p>
            <a:pPr marL="342900" indent="-342900">
              <a:buAutoNum type="arabicPeriod"/>
            </a:pPr>
            <a:r>
              <a:rPr lang="es-ES" sz="1800" b="0" strike="noStrike" spc="-1" dirty="0">
                <a:solidFill>
                  <a:schemeClr val="bg1"/>
                </a:solidFill>
                <a:latin typeface="Arial"/>
              </a:rPr>
              <a:t>β</a:t>
            </a:r>
            <a:r>
              <a:rPr lang="es-ES" spc="-1" baseline="-25000" dirty="0">
                <a:solidFill>
                  <a:schemeClr val="bg1"/>
                </a:solidFill>
                <a:latin typeface="Arial"/>
              </a:rPr>
              <a:t>j</a:t>
            </a:r>
            <a:r>
              <a:rPr lang="es-ES" sz="1800" b="0" strike="noStrike" spc="-1" dirty="0">
                <a:solidFill>
                  <a:schemeClr val="bg1"/>
                </a:solidFill>
                <a:latin typeface="Arial"/>
              </a:rPr>
              <a:t>: cuánto aumenta la variable respuesta cuando el predictor j incrementa en una unidad</a:t>
            </a:r>
            <a:endParaRPr lang="es-ES" dirty="0">
              <a:solidFill>
                <a:schemeClr val="bg1"/>
              </a:solidFill>
            </a:endParaRPr>
          </a:p>
        </p:txBody>
      </p:sp>
      <p:pic>
        <p:nvPicPr>
          <p:cNvPr id="11" name="Picture 9">
            <a:extLst>
              <a:ext uri="{FF2B5EF4-FFF2-40B4-BE49-F238E27FC236}">
                <a16:creationId xmlns:a16="http://schemas.microsoft.com/office/drawing/2014/main" id="{1869F1C0-17DE-47AC-917E-0E49769D5281}"/>
              </a:ext>
            </a:extLst>
          </p:cNvPr>
          <p:cNvPicPr/>
          <p:nvPr/>
        </p:nvPicPr>
        <p:blipFill>
          <a:blip r:embed="rId3"/>
          <a:stretch/>
        </p:blipFill>
        <p:spPr>
          <a:xfrm>
            <a:off x="6248400" y="3966200"/>
            <a:ext cx="2389680" cy="948980"/>
          </a:xfrm>
          <a:prstGeom prst="rect">
            <a:avLst/>
          </a:prstGeom>
          <a:ln w="0">
            <a:noFill/>
          </a:ln>
        </p:spPr>
      </p:pic>
      <p:sp>
        <p:nvSpPr>
          <p:cNvPr id="4" name="CuadroTexto 3">
            <a:extLst>
              <a:ext uri="{FF2B5EF4-FFF2-40B4-BE49-F238E27FC236}">
                <a16:creationId xmlns:a16="http://schemas.microsoft.com/office/drawing/2014/main" id="{ADAD2F03-010F-4B0F-A962-9186E517FB6F}"/>
              </a:ext>
            </a:extLst>
          </p:cNvPr>
          <p:cNvSpPr txBox="1"/>
          <p:nvPr/>
        </p:nvSpPr>
        <p:spPr>
          <a:xfrm>
            <a:off x="8701440" y="4237545"/>
            <a:ext cx="1534640" cy="369332"/>
          </a:xfrm>
          <a:prstGeom prst="rect">
            <a:avLst/>
          </a:prstGeom>
          <a:noFill/>
        </p:spPr>
        <p:txBody>
          <a:bodyPr wrap="square" rtlCol="0">
            <a:spAutoFit/>
          </a:bodyPr>
          <a:lstStyle/>
          <a:p>
            <a:pPr algn="ctr"/>
            <a:r>
              <a:rPr lang="es-ES" dirty="0">
                <a:solidFill>
                  <a:schemeClr val="bg1"/>
                </a:solidFill>
              </a:rPr>
              <a:t>Y = 5 + 6X</a:t>
            </a:r>
          </a:p>
        </p:txBody>
      </p:sp>
      <p:pic>
        <p:nvPicPr>
          <p:cNvPr id="8" name="Picture 2" descr="Resultado de imagen de regresion lineal">
            <a:extLst>
              <a:ext uri="{FF2B5EF4-FFF2-40B4-BE49-F238E27FC236}">
                <a16:creationId xmlns:a16="http://schemas.microsoft.com/office/drawing/2014/main" id="{FAA0814C-4A69-424C-9619-2B01380C8F8E}"/>
              </a:ext>
            </a:extLst>
          </p:cNvPr>
          <p:cNvPicPr/>
          <p:nvPr/>
        </p:nvPicPr>
        <p:blipFill>
          <a:blip r:embed="rId4"/>
          <a:stretch/>
        </p:blipFill>
        <p:spPr>
          <a:xfrm>
            <a:off x="1955920" y="3509651"/>
            <a:ext cx="3165200" cy="1943054"/>
          </a:xfrm>
          <a:prstGeom prst="rect">
            <a:avLst/>
          </a:prstGeom>
          <a:solidFill>
            <a:schemeClr val="bg1"/>
          </a:solidFill>
          <a:ln w="0">
            <a:noFill/>
          </a:ln>
        </p:spPr>
      </p:pic>
      <p:sp>
        <p:nvSpPr>
          <p:cNvPr id="12" name="CustomShape 2">
            <a:extLst>
              <a:ext uri="{FF2B5EF4-FFF2-40B4-BE49-F238E27FC236}">
                <a16:creationId xmlns:a16="http://schemas.microsoft.com/office/drawing/2014/main" id="{7D966DC7-4DA0-4026-AED2-10F36FDC50E7}"/>
              </a:ext>
            </a:extLst>
          </p:cNvPr>
          <p:cNvSpPr/>
          <p:nvPr/>
        </p:nvSpPr>
        <p:spPr>
          <a:xfrm>
            <a:off x="3888960" y="1619966"/>
            <a:ext cx="4106640" cy="55832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1"/>
              </a:spcBef>
              <a:tabLst>
                <a:tab pos="0" algn="l"/>
              </a:tabLst>
            </a:pPr>
            <a:r>
              <a:rPr lang="es-ES" sz="1800" b="0" strike="noStrike" spc="-1" dirty="0">
                <a:solidFill>
                  <a:schemeClr val="bg1"/>
                </a:solidFill>
                <a:latin typeface="Arial"/>
              </a:rPr>
              <a:t>Y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X</a:t>
            </a:r>
            <a:r>
              <a:rPr lang="es-ES" spc="-1" baseline="-25000" dirty="0">
                <a:solidFill>
                  <a:schemeClr val="bg1"/>
                </a:solidFill>
                <a:latin typeface="Arial"/>
              </a:rPr>
              <a:t>1</a:t>
            </a:r>
            <a:r>
              <a:rPr lang="es-ES" sz="1800" b="0" strike="noStrike" spc="-1" dirty="0">
                <a:solidFill>
                  <a:schemeClr val="bg1"/>
                </a:solidFill>
                <a:latin typeface="Arial"/>
              </a:rPr>
              <a:t> + β</a:t>
            </a:r>
            <a:r>
              <a:rPr lang="es-ES" spc="-1" baseline="-25000" dirty="0">
                <a:solidFill>
                  <a:schemeClr val="bg1"/>
                </a:solidFill>
                <a:latin typeface="Arial"/>
              </a:rPr>
              <a:t>2</a:t>
            </a:r>
            <a:r>
              <a:rPr lang="es-ES" sz="1800" b="0" strike="noStrike" spc="-1" dirty="0">
                <a:solidFill>
                  <a:schemeClr val="bg1"/>
                </a:solidFill>
                <a:latin typeface="Arial"/>
              </a:rPr>
              <a:t>X</a:t>
            </a:r>
            <a:r>
              <a:rPr lang="es-ES" spc="-1" baseline="-25000" dirty="0">
                <a:solidFill>
                  <a:schemeClr val="bg1"/>
                </a:solidFill>
                <a:latin typeface="Arial"/>
              </a:rPr>
              <a:t>2</a:t>
            </a:r>
            <a:r>
              <a:rPr lang="es-ES" sz="1800" b="0" strike="noStrike" spc="-1" dirty="0">
                <a:solidFill>
                  <a:schemeClr val="bg1"/>
                </a:solidFill>
                <a:latin typeface="Arial"/>
              </a:rPr>
              <a:t> + …. +β</a:t>
            </a:r>
            <a:r>
              <a:rPr lang="es-ES" spc="-1" baseline="-25000" dirty="0" err="1">
                <a:solidFill>
                  <a:schemeClr val="bg1"/>
                </a:solidFill>
                <a:latin typeface="Arial"/>
              </a:rPr>
              <a:t>j</a:t>
            </a:r>
            <a:r>
              <a:rPr lang="es-ES" sz="1800" b="0" strike="noStrike" spc="-1" dirty="0" err="1">
                <a:solidFill>
                  <a:schemeClr val="bg1"/>
                </a:solidFill>
                <a:latin typeface="Arial"/>
              </a:rPr>
              <a:t>X</a:t>
            </a:r>
            <a:r>
              <a:rPr lang="es-ES" spc="-1" baseline="-25000" dirty="0" err="1">
                <a:solidFill>
                  <a:schemeClr val="bg1"/>
                </a:solidFill>
                <a:latin typeface="Arial"/>
              </a:rPr>
              <a:t>j</a:t>
            </a:r>
            <a:endParaRPr lang="es-ES" spc="-1" baseline="-25000" dirty="0">
              <a:solidFill>
                <a:schemeClr val="bg1"/>
              </a:solidFill>
              <a:latin typeface="Arial"/>
            </a:endParaRPr>
          </a:p>
        </p:txBody>
      </p:sp>
    </p:spTree>
    <p:extLst>
      <p:ext uri="{BB962C8B-B14F-4D97-AF65-F5344CB8AC3E}">
        <p14:creationId xmlns:p14="http://schemas.microsoft.com/office/powerpoint/2010/main" val="3038892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spc="-1" dirty="0">
                <a:solidFill>
                  <a:srgbClr val="FF0000"/>
                </a:solidFill>
                <a:latin typeface="Calibri Light"/>
              </a:rPr>
              <a:t>¿Qué son los coeficientes?</a:t>
            </a:r>
            <a:endParaRPr lang="es-ES" sz="4400" spc="-1" dirty="0"/>
          </a:p>
        </p:txBody>
      </p:sp>
      <p:pic>
        <p:nvPicPr>
          <p:cNvPr id="13" name="Imagen 12">
            <a:extLst>
              <a:ext uri="{FF2B5EF4-FFF2-40B4-BE49-F238E27FC236}">
                <a16:creationId xmlns:a16="http://schemas.microsoft.com/office/drawing/2014/main" id="{40CB0E67-1D95-4E20-8D0A-97A72C63F867}"/>
              </a:ext>
            </a:extLst>
          </p:cNvPr>
          <p:cNvPicPr>
            <a:picLocks noChangeAspect="1"/>
          </p:cNvPicPr>
          <p:nvPr/>
        </p:nvPicPr>
        <p:blipFill>
          <a:blip r:embed="rId3"/>
          <a:stretch>
            <a:fillRect/>
          </a:stretch>
        </p:blipFill>
        <p:spPr>
          <a:xfrm>
            <a:off x="3521068" y="2069858"/>
            <a:ext cx="4803464" cy="1197594"/>
          </a:xfrm>
          <a:prstGeom prst="rect">
            <a:avLst/>
          </a:prstGeom>
        </p:spPr>
      </p:pic>
      <p:sp>
        <p:nvSpPr>
          <p:cNvPr id="14" name="CustomShape 2">
            <a:extLst>
              <a:ext uri="{FF2B5EF4-FFF2-40B4-BE49-F238E27FC236}">
                <a16:creationId xmlns:a16="http://schemas.microsoft.com/office/drawing/2014/main" id="{1723BDCD-74F1-4664-A4F4-84C4D7244028}"/>
              </a:ext>
            </a:extLst>
          </p:cNvPr>
          <p:cNvSpPr/>
          <p:nvPr/>
        </p:nvSpPr>
        <p:spPr>
          <a:xfrm>
            <a:off x="1785693" y="3693160"/>
            <a:ext cx="8274213" cy="5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1"/>
              </a:spcBef>
              <a:tabLst>
                <a:tab pos="0" algn="l"/>
              </a:tabLst>
            </a:pPr>
            <a:r>
              <a:rPr lang="es-ES" sz="1800" b="0" strike="noStrike" spc="-1" dirty="0">
                <a:solidFill>
                  <a:schemeClr val="bg1"/>
                </a:solidFill>
                <a:latin typeface="Arial"/>
              </a:rPr>
              <a:t>Y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X</a:t>
            </a:r>
            <a:r>
              <a:rPr lang="es-ES" spc="-1" baseline="-25000" dirty="0">
                <a:solidFill>
                  <a:schemeClr val="bg1"/>
                </a:solidFill>
                <a:latin typeface="Arial"/>
              </a:rPr>
              <a:t>1</a:t>
            </a:r>
            <a:r>
              <a:rPr lang="es-ES" sz="1800" b="0" strike="noStrike" spc="-1" dirty="0">
                <a:solidFill>
                  <a:schemeClr val="bg1"/>
                </a:solidFill>
                <a:latin typeface="Arial"/>
              </a:rPr>
              <a:t> + β</a:t>
            </a:r>
            <a:r>
              <a:rPr lang="es-ES" spc="-1" baseline="-25000" dirty="0">
                <a:solidFill>
                  <a:schemeClr val="bg1"/>
                </a:solidFill>
                <a:latin typeface="Arial"/>
              </a:rPr>
              <a:t>2</a:t>
            </a:r>
            <a:r>
              <a:rPr lang="es-ES" sz="1800" b="0" strike="noStrike" spc="-1" dirty="0">
                <a:solidFill>
                  <a:schemeClr val="bg1"/>
                </a:solidFill>
                <a:latin typeface="Arial"/>
              </a:rPr>
              <a:t>X</a:t>
            </a:r>
            <a:r>
              <a:rPr lang="es-ES" spc="-1" baseline="-25000" dirty="0">
                <a:solidFill>
                  <a:schemeClr val="bg1"/>
                </a:solidFill>
                <a:latin typeface="Arial"/>
              </a:rPr>
              <a:t>2</a:t>
            </a:r>
            <a:r>
              <a:rPr lang="es-ES" sz="1800" b="0" strike="noStrike" spc="-1" dirty="0">
                <a:solidFill>
                  <a:schemeClr val="bg1"/>
                </a:solidFill>
                <a:latin typeface="Arial"/>
              </a:rPr>
              <a:t> + β</a:t>
            </a:r>
            <a:r>
              <a:rPr lang="es-ES" spc="-1" baseline="-25000" dirty="0">
                <a:solidFill>
                  <a:schemeClr val="bg1"/>
                </a:solidFill>
                <a:latin typeface="Arial"/>
              </a:rPr>
              <a:t>3</a:t>
            </a:r>
            <a:r>
              <a:rPr lang="es-ES" sz="1800" b="0" strike="noStrike" spc="-1" dirty="0">
                <a:solidFill>
                  <a:schemeClr val="bg1"/>
                </a:solidFill>
                <a:latin typeface="Arial"/>
              </a:rPr>
              <a:t>X</a:t>
            </a:r>
            <a:r>
              <a:rPr lang="es-ES" spc="-1" baseline="-25000" dirty="0">
                <a:solidFill>
                  <a:schemeClr val="bg1"/>
                </a:solidFill>
                <a:latin typeface="Arial"/>
              </a:rPr>
              <a:t>3</a:t>
            </a:r>
          </a:p>
        </p:txBody>
      </p:sp>
      <p:sp>
        <p:nvSpPr>
          <p:cNvPr id="15" name="CustomShape 2">
            <a:extLst>
              <a:ext uri="{FF2B5EF4-FFF2-40B4-BE49-F238E27FC236}">
                <a16:creationId xmlns:a16="http://schemas.microsoft.com/office/drawing/2014/main" id="{6307E609-5FE4-40C6-B935-CCAE2956D6DB}"/>
              </a:ext>
            </a:extLst>
          </p:cNvPr>
          <p:cNvSpPr/>
          <p:nvPr/>
        </p:nvSpPr>
        <p:spPr>
          <a:xfrm>
            <a:off x="2071680" y="5175980"/>
            <a:ext cx="8168640" cy="6863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1"/>
              </a:spcBef>
              <a:tabLst>
                <a:tab pos="0" algn="l"/>
              </a:tabLst>
            </a:pPr>
            <a:r>
              <a:rPr lang="es-ES" spc="-1" dirty="0">
                <a:solidFill>
                  <a:schemeClr val="bg1"/>
                </a:solidFill>
                <a:latin typeface="Arial"/>
              </a:rPr>
              <a:t>Sales</a:t>
            </a:r>
            <a:r>
              <a:rPr lang="es-ES" sz="1800" b="0" strike="noStrike" spc="-1" dirty="0">
                <a:solidFill>
                  <a:schemeClr val="bg1"/>
                </a:solidFill>
                <a:latin typeface="Arial"/>
              </a:rPr>
              <a:t> = 500 + 50*(TV) + 20(radio) + 15(</a:t>
            </a:r>
            <a:r>
              <a:rPr lang="es-ES" sz="1800" b="0" strike="noStrike" spc="-1" dirty="0" err="1">
                <a:solidFill>
                  <a:schemeClr val="bg1"/>
                </a:solidFill>
                <a:latin typeface="Arial"/>
              </a:rPr>
              <a:t>newspaper</a:t>
            </a:r>
            <a:r>
              <a:rPr lang="es-ES" sz="1800" b="0" strike="noStrike" spc="-1" dirty="0">
                <a:solidFill>
                  <a:schemeClr val="bg1"/>
                </a:solidFill>
                <a:latin typeface="Arial"/>
              </a:rPr>
              <a:t>)</a:t>
            </a:r>
            <a:endParaRPr lang="es-ES" spc="-1" baseline="-25000" dirty="0">
              <a:solidFill>
                <a:schemeClr val="bg1"/>
              </a:solidFill>
              <a:latin typeface="Arial"/>
            </a:endParaRPr>
          </a:p>
        </p:txBody>
      </p:sp>
      <p:sp>
        <p:nvSpPr>
          <p:cNvPr id="16" name="CustomShape 2">
            <a:extLst>
              <a:ext uri="{FF2B5EF4-FFF2-40B4-BE49-F238E27FC236}">
                <a16:creationId xmlns:a16="http://schemas.microsoft.com/office/drawing/2014/main" id="{AB59ECF1-54C1-4BE0-80F2-8821AE8C2FC1}"/>
              </a:ext>
            </a:extLst>
          </p:cNvPr>
          <p:cNvSpPr/>
          <p:nvPr/>
        </p:nvSpPr>
        <p:spPr>
          <a:xfrm>
            <a:off x="2019373" y="4375880"/>
            <a:ext cx="8274213" cy="57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90000"/>
              </a:lnSpc>
              <a:spcBef>
                <a:spcPts val="1001"/>
              </a:spcBef>
              <a:tabLst>
                <a:tab pos="0" algn="l"/>
              </a:tabLst>
            </a:pPr>
            <a:r>
              <a:rPr lang="es-ES" spc="-1" dirty="0">
                <a:solidFill>
                  <a:schemeClr val="bg1"/>
                </a:solidFill>
                <a:latin typeface="Arial"/>
              </a:rPr>
              <a:t>Sales</a:t>
            </a:r>
            <a:r>
              <a:rPr lang="es-ES" sz="1800" b="0" strike="noStrike" spc="-1" dirty="0">
                <a:solidFill>
                  <a:schemeClr val="bg1"/>
                </a:solidFill>
                <a:latin typeface="Arial"/>
              </a:rPr>
              <a:t>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 *(TV) + β</a:t>
            </a:r>
            <a:r>
              <a:rPr lang="es-ES" spc="-1" baseline="-25000" dirty="0">
                <a:solidFill>
                  <a:schemeClr val="bg1"/>
                </a:solidFill>
                <a:latin typeface="Arial"/>
              </a:rPr>
              <a:t>2</a:t>
            </a:r>
            <a:r>
              <a:rPr lang="es-ES" sz="1800" b="0" strike="noStrike" spc="-1" dirty="0">
                <a:solidFill>
                  <a:schemeClr val="bg1"/>
                </a:solidFill>
                <a:latin typeface="Arial"/>
              </a:rPr>
              <a:t> (radio) + β</a:t>
            </a:r>
            <a:r>
              <a:rPr lang="es-ES" spc="-1" baseline="-25000" dirty="0">
                <a:solidFill>
                  <a:schemeClr val="bg1"/>
                </a:solidFill>
                <a:latin typeface="Arial"/>
              </a:rPr>
              <a:t>3</a:t>
            </a:r>
            <a:r>
              <a:rPr lang="es-ES" sz="1800" b="0" strike="noStrike" spc="-1" dirty="0">
                <a:solidFill>
                  <a:schemeClr val="bg1"/>
                </a:solidFill>
                <a:latin typeface="Arial"/>
              </a:rPr>
              <a:t> (</a:t>
            </a:r>
            <a:r>
              <a:rPr lang="es-ES" sz="1800" b="0" strike="noStrike" spc="-1" dirty="0" err="1">
                <a:solidFill>
                  <a:schemeClr val="bg1"/>
                </a:solidFill>
                <a:latin typeface="Arial"/>
              </a:rPr>
              <a:t>newspaper</a:t>
            </a:r>
            <a:r>
              <a:rPr lang="es-ES" sz="1800" b="0" strike="noStrike" spc="-1" dirty="0">
                <a:solidFill>
                  <a:schemeClr val="bg1"/>
                </a:solidFill>
                <a:latin typeface="Arial"/>
              </a:rPr>
              <a:t>)</a:t>
            </a:r>
          </a:p>
        </p:txBody>
      </p:sp>
    </p:spTree>
    <p:extLst>
      <p:ext uri="{BB962C8B-B14F-4D97-AF65-F5344CB8AC3E}">
        <p14:creationId xmlns:p14="http://schemas.microsoft.com/office/powerpoint/2010/main" val="216327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CustomShape 1"/>
          <p:cNvSpPr/>
          <p:nvPr/>
        </p:nvSpPr>
        <p:spPr>
          <a:xfrm>
            <a:off x="1980000" y="2430000"/>
            <a:ext cx="838620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dirty="0">
                <a:solidFill>
                  <a:srgbClr val="FF0000"/>
                </a:solidFill>
                <a:latin typeface="Calibri Light"/>
              </a:rPr>
              <a:t>¿Cómo calculo los coeficientes </a:t>
            </a:r>
            <a:r>
              <a:rPr lang="el-GR" sz="4400" b="0" strike="noStrike" spc="-1" dirty="0">
                <a:solidFill>
                  <a:srgbClr val="FF0000"/>
                </a:solidFill>
                <a:latin typeface="Calibri Light"/>
              </a:rPr>
              <a:t>β</a:t>
            </a:r>
            <a:r>
              <a:rPr lang="es-ES" sz="4400" b="0" strike="noStrike" spc="-1" dirty="0">
                <a:solidFill>
                  <a:srgbClr val="FF0000"/>
                </a:solidFill>
                <a:latin typeface="Calibri Light"/>
              </a:rPr>
              <a:t>?</a:t>
            </a:r>
            <a:endParaRPr lang="es-ES" sz="44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spc="-1" dirty="0">
                <a:solidFill>
                  <a:srgbClr val="FF0000"/>
                </a:solidFill>
                <a:latin typeface="Calibri Light"/>
              </a:rPr>
              <a:t>Las </a:t>
            </a:r>
            <a:r>
              <a:rPr lang="el-GR" sz="4400" b="0" strike="noStrike" spc="-1" dirty="0">
                <a:solidFill>
                  <a:srgbClr val="FF0000"/>
                </a:solidFill>
                <a:latin typeface="Calibri Light"/>
              </a:rPr>
              <a:t>β</a:t>
            </a:r>
            <a:r>
              <a:rPr lang="es-ES" sz="4400" b="0" strike="noStrike" spc="-1" dirty="0">
                <a:solidFill>
                  <a:srgbClr val="FF0000"/>
                </a:solidFill>
                <a:latin typeface="Calibri Light"/>
              </a:rPr>
              <a:t> van a definir mi recta o hiperplano</a:t>
            </a:r>
            <a:r>
              <a:rPr lang="es-ES" sz="4400" spc="-1" dirty="0">
                <a:solidFill>
                  <a:srgbClr val="FF0000"/>
                </a:solidFill>
                <a:latin typeface="Calibri Light"/>
              </a:rPr>
              <a:t> </a:t>
            </a:r>
            <a:endParaRPr lang="es-ES" sz="4400" b="0" strike="noStrike" spc="-1" dirty="0">
              <a:latin typeface="Arial"/>
            </a:endParaRPr>
          </a:p>
        </p:txBody>
      </p:sp>
      <p:pic>
        <p:nvPicPr>
          <p:cNvPr id="1026" name="Picture 2" descr="Scatter plot of a strong positive correlation, (r = .93). | Download  Scientific Diagram">
            <a:extLst>
              <a:ext uri="{FF2B5EF4-FFF2-40B4-BE49-F238E27FC236}">
                <a16:creationId xmlns:a16="http://schemas.microsoft.com/office/drawing/2014/main" id="{40249E4B-CF2F-42FA-AC85-5D744CB92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950" y="2359025"/>
            <a:ext cx="4656713" cy="370205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ector recto 2">
            <a:extLst>
              <a:ext uri="{FF2B5EF4-FFF2-40B4-BE49-F238E27FC236}">
                <a16:creationId xmlns:a16="http://schemas.microsoft.com/office/drawing/2014/main" id="{19E242FB-9A5A-43ED-85D9-98CC509C06DA}"/>
              </a:ext>
            </a:extLst>
          </p:cNvPr>
          <p:cNvCxnSpPr/>
          <p:nvPr/>
        </p:nvCxnSpPr>
        <p:spPr>
          <a:xfrm flipV="1">
            <a:off x="1156206" y="1851765"/>
            <a:ext cx="2832100" cy="2602760"/>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BBE9A77-3B83-4875-B0EC-06C9269816D8}"/>
              </a:ext>
            </a:extLst>
          </p:cNvPr>
          <p:cNvCxnSpPr>
            <a:cxnSpLocks/>
          </p:cNvCxnSpPr>
          <p:nvPr/>
        </p:nvCxnSpPr>
        <p:spPr>
          <a:xfrm flipV="1">
            <a:off x="2144545" y="3502025"/>
            <a:ext cx="4405480" cy="57748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25063D96-0456-4A3A-991A-A4F0EAFA3F10}"/>
              </a:ext>
            </a:extLst>
          </p:cNvPr>
          <p:cNvCxnSpPr>
            <a:cxnSpLocks/>
          </p:cNvCxnSpPr>
          <p:nvPr/>
        </p:nvCxnSpPr>
        <p:spPr>
          <a:xfrm flipV="1">
            <a:off x="4049377" y="3502025"/>
            <a:ext cx="2825918" cy="2442260"/>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663D423B-97AD-4CC8-8C2F-EB3657B75B9A}"/>
              </a:ext>
            </a:extLst>
          </p:cNvPr>
          <p:cNvCxnSpPr>
            <a:cxnSpLocks/>
          </p:cNvCxnSpPr>
          <p:nvPr/>
        </p:nvCxnSpPr>
        <p:spPr>
          <a:xfrm flipV="1">
            <a:off x="2621951" y="2701925"/>
            <a:ext cx="3445474" cy="262816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5AA7CB61-E68A-47DE-8960-D7B92E78F5F9}"/>
              </a:ext>
            </a:extLst>
          </p:cNvPr>
          <p:cNvPicPr/>
          <p:nvPr/>
        </p:nvPicPr>
        <p:blipFill>
          <a:blip r:embed="rId4"/>
          <a:stretch/>
        </p:blipFill>
        <p:spPr>
          <a:xfrm>
            <a:off x="7027431" y="2617695"/>
            <a:ext cx="4405480" cy="2923619"/>
          </a:xfrm>
          <a:prstGeom prst="rect">
            <a:avLst/>
          </a:prstGeom>
          <a:ln w="0">
            <a:noFill/>
          </a:ln>
        </p:spPr>
      </p:pic>
    </p:spTree>
    <p:extLst>
      <p:ext uri="{BB962C8B-B14F-4D97-AF65-F5344CB8AC3E}">
        <p14:creationId xmlns:p14="http://schemas.microsoft.com/office/powerpoint/2010/main" val="48544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CustomShape 1"/>
          <p:cNvSpPr/>
          <p:nvPr/>
        </p:nvSpPr>
        <p:spPr>
          <a:xfrm>
            <a:off x="1980000" y="2430000"/>
            <a:ext cx="838620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dirty="0">
                <a:solidFill>
                  <a:srgbClr val="FF0000"/>
                </a:solidFill>
                <a:latin typeface="Calibri Light"/>
              </a:rPr>
              <a:t>¿Cómo medimos el error cometido?</a:t>
            </a:r>
            <a:endParaRPr lang="es-ES" sz="4400" b="0" strike="noStrike" spc="-1" dirty="0">
              <a:latin typeface="Arial"/>
            </a:endParaRPr>
          </a:p>
        </p:txBody>
      </p:sp>
    </p:spTree>
    <p:extLst>
      <p:ext uri="{BB962C8B-B14F-4D97-AF65-F5344CB8AC3E}">
        <p14:creationId xmlns:p14="http://schemas.microsoft.com/office/powerpoint/2010/main" val="183096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Shape 1"/>
          <p:cNvSpPr txBox="1"/>
          <p:nvPr/>
        </p:nvSpPr>
        <p:spPr>
          <a:xfrm>
            <a:off x="900000" y="3240000"/>
            <a:ext cx="2520000" cy="830160"/>
          </a:xfrm>
          <a:prstGeom prst="rect">
            <a:avLst/>
          </a:prstGeom>
          <a:noFill/>
          <a:ln w="0">
            <a:noFill/>
          </a:ln>
        </p:spPr>
        <p:txBody>
          <a:bodyPr lIns="90000" tIns="45000" rIns="90000" bIns="45000">
            <a:noAutofit/>
          </a:bodyPr>
          <a:lstStyle/>
          <a:p>
            <a:r>
              <a:rPr lang="es-ES" sz="1600" b="0" strike="noStrike" spc="-1">
                <a:latin typeface="Arial"/>
              </a:rPr>
              <a:t>N = n.º observaciones</a:t>
            </a:r>
          </a:p>
          <a:p>
            <a:r>
              <a:rPr lang="es-ES" sz="1600" b="0" strike="noStrike" spc="-1">
                <a:latin typeface="Arial"/>
              </a:rPr>
              <a:t>Y = valores reales</a:t>
            </a:r>
          </a:p>
          <a:p>
            <a:r>
              <a:rPr lang="es-ES" sz="1600" b="0" strike="noStrike" spc="-1">
                <a:latin typeface="Arial"/>
              </a:rPr>
              <a:t>Ŷ = valores predichos</a:t>
            </a:r>
          </a:p>
        </p:txBody>
      </p:sp>
      <p:sp>
        <p:nvSpPr>
          <p:cNvPr id="63" name="CustomShape 2"/>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Loss function</a:t>
            </a:r>
            <a:endParaRPr lang="es-ES" sz="4400" b="0" strike="noStrike" spc="-1">
              <a:latin typeface="Arial"/>
            </a:endParaRPr>
          </a:p>
        </p:txBody>
      </p:sp>
      <p:sp>
        <p:nvSpPr>
          <p:cNvPr id="64" name="CustomShape 3"/>
          <p:cNvSpPr/>
          <p:nvPr/>
        </p:nvSpPr>
        <p:spPr>
          <a:xfrm>
            <a:off x="838080" y="1620000"/>
            <a:ext cx="10259640"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Necesitamos una métrica que nos diga cómo de bien o mal predice el modelo:</a:t>
            </a:r>
          </a:p>
          <a:p>
            <a:pPr>
              <a:lnSpc>
                <a:spcPct val="100000"/>
              </a:lnSpc>
            </a:pPr>
            <a:endParaRPr lang="es-ES" spc="-1" dirty="0">
              <a:solidFill>
                <a:schemeClr val="bg1"/>
              </a:solidFill>
              <a:latin typeface="Arial"/>
            </a:endParaRPr>
          </a:p>
          <a:p>
            <a:pPr>
              <a:lnSpc>
                <a:spcPct val="100000"/>
              </a:lnSpc>
            </a:pPr>
            <a:r>
              <a:rPr lang="es-ES" sz="1800" b="1" strike="noStrike" spc="-1" dirty="0">
                <a:solidFill>
                  <a:schemeClr val="bg1"/>
                </a:solidFill>
                <a:latin typeface="Arial"/>
              </a:rPr>
              <a:t>Error cuadrático medio (Mean </a:t>
            </a:r>
            <a:r>
              <a:rPr lang="es-ES" sz="1800" b="1" strike="noStrike" spc="-1" dirty="0" err="1">
                <a:solidFill>
                  <a:schemeClr val="bg1"/>
                </a:solidFill>
                <a:latin typeface="Arial"/>
              </a:rPr>
              <a:t>Squared</a:t>
            </a:r>
            <a:r>
              <a:rPr lang="es-ES" sz="1800" b="1" strike="noStrike" spc="-1" dirty="0">
                <a:solidFill>
                  <a:schemeClr val="bg1"/>
                </a:solidFill>
                <a:latin typeface="Arial"/>
              </a:rPr>
              <a:t> Error)</a:t>
            </a:r>
            <a:endParaRPr lang="es-ES" sz="1800" b="0" strike="noStrike" spc="-1" dirty="0">
              <a:solidFill>
                <a:schemeClr val="bg1"/>
              </a:solidFill>
              <a:latin typeface="Arial"/>
            </a:endParaRPr>
          </a:p>
        </p:txBody>
      </p:sp>
      <p:pic>
        <p:nvPicPr>
          <p:cNvPr id="65" name="Imagen 64"/>
          <p:cNvPicPr/>
          <p:nvPr/>
        </p:nvPicPr>
        <p:blipFill>
          <a:blip r:embed="rId3"/>
          <a:stretch/>
        </p:blipFill>
        <p:spPr>
          <a:xfrm>
            <a:off x="1788640" y="2944800"/>
            <a:ext cx="3505680" cy="1403640"/>
          </a:xfrm>
          <a:prstGeom prst="rect">
            <a:avLst/>
          </a:prstGeom>
          <a:ln w="0">
            <a:noFill/>
          </a:ln>
        </p:spPr>
      </p:pic>
      <p:sp>
        <p:nvSpPr>
          <p:cNvPr id="66" name="CustomShape 4"/>
          <p:cNvSpPr/>
          <p:nvPr/>
        </p:nvSpPr>
        <p:spPr>
          <a:xfrm>
            <a:off x="900000" y="4722120"/>
            <a:ext cx="10259640"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Que sería la </a:t>
            </a:r>
            <a:r>
              <a:rPr lang="es-ES" sz="1800" b="1" strike="noStrike" spc="-1" dirty="0" err="1">
                <a:solidFill>
                  <a:schemeClr val="bg1"/>
                </a:solidFill>
                <a:latin typeface="Arial"/>
              </a:rPr>
              <a:t>loss</a:t>
            </a:r>
            <a:r>
              <a:rPr lang="es-ES" sz="1800" b="1" strike="noStrike" spc="-1" dirty="0">
                <a:solidFill>
                  <a:schemeClr val="bg1"/>
                </a:solidFill>
                <a:latin typeface="Arial"/>
              </a:rPr>
              <a:t> </a:t>
            </a:r>
            <a:r>
              <a:rPr lang="es-ES" sz="1800" b="1" strike="noStrike" spc="-1" dirty="0" err="1">
                <a:solidFill>
                  <a:schemeClr val="bg1"/>
                </a:solidFill>
                <a:latin typeface="Arial"/>
              </a:rPr>
              <a:t>function</a:t>
            </a:r>
            <a:r>
              <a:rPr lang="es-ES" sz="1800" b="0" strike="noStrike" spc="-1" dirty="0">
                <a:solidFill>
                  <a:schemeClr val="bg1"/>
                </a:solidFill>
                <a:latin typeface="Arial"/>
              </a:rPr>
              <a:t> o función de costes de la regresión lineal</a:t>
            </a:r>
          </a:p>
          <a:p>
            <a:pPr>
              <a:lnSpc>
                <a:spcPct val="100000"/>
              </a:lnSpc>
            </a:pPr>
            <a:endParaRPr lang="es-ES" sz="1800" b="0" strike="noStrike" spc="-1" dirty="0">
              <a:solidFill>
                <a:schemeClr val="bg1"/>
              </a:solidFill>
              <a:latin typeface="Arial"/>
            </a:endParaRPr>
          </a:p>
          <a:p>
            <a:pPr>
              <a:lnSpc>
                <a:spcPct val="100000"/>
              </a:lnSpc>
            </a:pPr>
            <a:r>
              <a:rPr lang="es-ES" sz="1800" b="0" strike="noStrike" spc="-1" dirty="0">
                <a:solidFill>
                  <a:schemeClr val="bg1"/>
                </a:solidFill>
                <a:latin typeface="Arial"/>
              </a:rPr>
              <a:t>Perfecto, definida nuestra métrica de calidad del modelo, ¿ahora qué viene?</a:t>
            </a:r>
          </a:p>
          <a:p>
            <a:pPr>
              <a:lnSpc>
                <a:spcPct val="100000"/>
              </a:lnSpc>
            </a:pPr>
            <a:r>
              <a:rPr lang="es-ES" sz="1800" b="0" strike="noStrike" spc="-1" dirty="0">
                <a:solidFill>
                  <a:schemeClr val="bg1"/>
                </a:solidFill>
                <a:latin typeface="Arial"/>
              </a:rPr>
              <a:t>Que nuestra regresión tenga la mínima cantidad de errores, ¿cómo lo hago?</a:t>
            </a:r>
          </a:p>
          <a:p>
            <a:pPr>
              <a:lnSpc>
                <a:spcPct val="100000"/>
              </a:lnSpc>
            </a:pPr>
            <a:r>
              <a:rPr lang="es-ES" sz="1800" b="1" strike="noStrike" spc="-1" dirty="0">
                <a:solidFill>
                  <a:schemeClr val="bg1"/>
                </a:solidFill>
                <a:latin typeface="Arial"/>
              </a:rPr>
              <a:t>Hay que encontrar aquellos </a:t>
            </a:r>
            <a:r>
              <a:rPr lang="es-ES" sz="1800" b="1" strike="noStrike" spc="-1" dirty="0" err="1">
                <a:solidFill>
                  <a:schemeClr val="bg1"/>
                </a:solidFill>
                <a:latin typeface="Arial"/>
              </a:rPr>
              <a:t>Ws</a:t>
            </a:r>
            <a:r>
              <a:rPr lang="es-ES" sz="1800" b="1" strike="noStrike" spc="-1" dirty="0">
                <a:solidFill>
                  <a:schemeClr val="bg1"/>
                </a:solidFill>
                <a:latin typeface="Arial"/>
              </a:rPr>
              <a:t> que me minimicen la función de costes</a:t>
            </a:r>
            <a:endParaRPr lang="es-ES" sz="1800" b="0" strike="noStrike" spc="-1" dirty="0">
              <a:solidFill>
                <a:schemeClr val="bg1"/>
              </a:solidFill>
              <a:latin typeface="Arial"/>
            </a:endParaRPr>
          </a:p>
        </p:txBody>
      </p:sp>
      <p:pic>
        <p:nvPicPr>
          <p:cNvPr id="67" name="Imagen 66"/>
          <p:cNvPicPr/>
          <p:nvPr/>
        </p:nvPicPr>
        <p:blipFill>
          <a:blip r:embed="rId4"/>
          <a:stretch/>
        </p:blipFill>
        <p:spPr>
          <a:xfrm>
            <a:off x="6192700" y="2135880"/>
            <a:ext cx="4210660" cy="242604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5AA7CB61-E68A-47DE-8960-D7B92E78F5F9}"/>
              </a:ext>
            </a:extLst>
          </p:cNvPr>
          <p:cNvPicPr/>
          <p:nvPr/>
        </p:nvPicPr>
        <p:blipFill>
          <a:blip r:embed="rId3"/>
          <a:stretch/>
        </p:blipFill>
        <p:spPr>
          <a:xfrm>
            <a:off x="6487212" y="2508052"/>
            <a:ext cx="4405480" cy="2923619"/>
          </a:xfrm>
          <a:prstGeom prst="rect">
            <a:avLst/>
          </a:prstGeom>
          <a:ln w="0">
            <a:noFill/>
          </a:ln>
        </p:spPr>
      </p:pic>
      <p:pic>
        <p:nvPicPr>
          <p:cNvPr id="2050" name="Picture 2" descr="Understanding the 3 most common loss functions for Machine Learning  Regression | by George Seif | Towards Data Science">
            <a:extLst>
              <a:ext uri="{FF2B5EF4-FFF2-40B4-BE49-F238E27FC236}">
                <a16:creationId xmlns:a16="http://schemas.microsoft.com/office/drawing/2014/main" id="{51F6617B-364D-410B-9F7D-88C1A24CE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155" t="12548" r="11160" b="13307"/>
          <a:stretch/>
        </p:blipFill>
        <p:spPr bwMode="auto">
          <a:xfrm>
            <a:off x="1065839" y="2470274"/>
            <a:ext cx="3686670" cy="2708732"/>
          </a:xfrm>
          <a:prstGeom prst="rect">
            <a:avLst/>
          </a:prstGeom>
          <a:noFill/>
          <a:extLst>
            <a:ext uri="{909E8E84-426E-40DD-AFC4-6F175D3DCCD1}">
              <a14:hiddenFill xmlns:a14="http://schemas.microsoft.com/office/drawing/2010/main">
                <a:solidFill>
                  <a:srgbClr val="FFFFFF"/>
                </a:solidFill>
              </a14:hiddenFill>
            </a:ext>
          </a:extLst>
        </p:spPr>
      </p:pic>
      <p:sp>
        <p:nvSpPr>
          <p:cNvPr id="51"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spc="-1" dirty="0">
                <a:solidFill>
                  <a:srgbClr val="FF0000"/>
                </a:solidFill>
                <a:latin typeface="Calibri Light"/>
              </a:rPr>
              <a:t>Buscamos la recta que me minimice el error</a:t>
            </a:r>
            <a:endParaRPr lang="es-ES" sz="4400" b="0" strike="noStrike" spc="-1" dirty="0">
              <a:latin typeface="Arial"/>
            </a:endParaRPr>
          </a:p>
        </p:txBody>
      </p:sp>
      <p:cxnSp>
        <p:nvCxnSpPr>
          <p:cNvPr id="3" name="Conector recto 2">
            <a:extLst>
              <a:ext uri="{FF2B5EF4-FFF2-40B4-BE49-F238E27FC236}">
                <a16:creationId xmlns:a16="http://schemas.microsoft.com/office/drawing/2014/main" id="{19E242FB-9A5A-43ED-85D9-98CC509C06DA}"/>
              </a:ext>
            </a:extLst>
          </p:cNvPr>
          <p:cNvCxnSpPr>
            <a:cxnSpLocks/>
          </p:cNvCxnSpPr>
          <p:nvPr/>
        </p:nvCxnSpPr>
        <p:spPr>
          <a:xfrm flipV="1">
            <a:off x="5391065" y="2134943"/>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663D423B-97AD-4CC8-8C2F-EB3657B75B9A}"/>
              </a:ext>
            </a:extLst>
          </p:cNvPr>
          <p:cNvCxnSpPr>
            <a:cxnSpLocks/>
          </p:cNvCxnSpPr>
          <p:nvPr/>
        </p:nvCxnSpPr>
        <p:spPr>
          <a:xfrm flipV="1">
            <a:off x="6672044" y="3016541"/>
            <a:ext cx="3753263" cy="1311399"/>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79F5E592-4FD9-418C-94E6-602AB66B0AFA}"/>
              </a:ext>
            </a:extLst>
          </p:cNvPr>
          <p:cNvCxnSpPr>
            <a:cxnSpLocks/>
          </p:cNvCxnSpPr>
          <p:nvPr/>
        </p:nvCxnSpPr>
        <p:spPr>
          <a:xfrm flipV="1">
            <a:off x="5333437" y="2045521"/>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30B58619-7114-45D2-86C8-0800D9EFECA8}"/>
              </a:ext>
            </a:extLst>
          </p:cNvPr>
          <p:cNvCxnSpPr>
            <a:cxnSpLocks/>
          </p:cNvCxnSpPr>
          <p:nvPr/>
        </p:nvCxnSpPr>
        <p:spPr>
          <a:xfrm flipV="1">
            <a:off x="5448692" y="2220721"/>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5DAEACEE-E71A-465D-8A54-A44A54C35F7E}"/>
              </a:ext>
            </a:extLst>
          </p:cNvPr>
          <p:cNvCxnSpPr>
            <a:cxnSpLocks/>
          </p:cNvCxnSpPr>
          <p:nvPr/>
        </p:nvCxnSpPr>
        <p:spPr>
          <a:xfrm flipV="1">
            <a:off x="5797357" y="2317065"/>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F6BB56F4-E74F-46D0-8F42-678C3C1F752B}"/>
              </a:ext>
            </a:extLst>
          </p:cNvPr>
          <p:cNvCxnSpPr>
            <a:cxnSpLocks/>
          </p:cNvCxnSpPr>
          <p:nvPr/>
        </p:nvCxnSpPr>
        <p:spPr>
          <a:xfrm flipV="1">
            <a:off x="5543465" y="2287343"/>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A09EFC2B-9B17-4C4F-920F-94F710F6DC50}"/>
              </a:ext>
            </a:extLst>
          </p:cNvPr>
          <p:cNvCxnSpPr>
            <a:cxnSpLocks/>
          </p:cNvCxnSpPr>
          <p:nvPr/>
        </p:nvCxnSpPr>
        <p:spPr>
          <a:xfrm flipV="1">
            <a:off x="5695865" y="2439743"/>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C3D93D80-D7E9-4E39-A70C-73451BA16CEA}"/>
              </a:ext>
            </a:extLst>
          </p:cNvPr>
          <p:cNvCxnSpPr>
            <a:cxnSpLocks/>
          </p:cNvCxnSpPr>
          <p:nvPr/>
        </p:nvCxnSpPr>
        <p:spPr>
          <a:xfrm flipV="1">
            <a:off x="5757420" y="2525521"/>
            <a:ext cx="4152050" cy="1336768"/>
          </a:xfrm>
          <a:prstGeom prst="line">
            <a:avLst/>
          </a:prstGeom>
          <a:ln w="412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F36A428D-280A-4DDA-A80B-44B560068BB2}"/>
              </a:ext>
            </a:extLst>
          </p:cNvPr>
          <p:cNvCxnSpPr>
            <a:cxnSpLocks/>
          </p:cNvCxnSpPr>
          <p:nvPr/>
        </p:nvCxnSpPr>
        <p:spPr>
          <a:xfrm flipV="1">
            <a:off x="7053932" y="3680143"/>
            <a:ext cx="3943535" cy="148893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13567D37-5473-4001-834E-013908583583}"/>
              </a:ext>
            </a:extLst>
          </p:cNvPr>
          <p:cNvCxnSpPr>
            <a:cxnSpLocks/>
          </p:cNvCxnSpPr>
          <p:nvPr/>
        </p:nvCxnSpPr>
        <p:spPr>
          <a:xfrm flipV="1">
            <a:off x="7101557" y="3725676"/>
            <a:ext cx="3943535" cy="148893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22E108CF-25F1-4D9B-B4E7-A98B09251B69}"/>
              </a:ext>
            </a:extLst>
          </p:cNvPr>
          <p:cNvCxnSpPr>
            <a:cxnSpLocks/>
          </p:cNvCxnSpPr>
          <p:nvPr/>
        </p:nvCxnSpPr>
        <p:spPr>
          <a:xfrm flipV="1">
            <a:off x="7253957" y="3878076"/>
            <a:ext cx="3943535" cy="148893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ED1C450F-2E52-4693-8E77-FA076FFA7751}"/>
              </a:ext>
            </a:extLst>
          </p:cNvPr>
          <p:cNvCxnSpPr>
            <a:cxnSpLocks/>
          </p:cNvCxnSpPr>
          <p:nvPr/>
        </p:nvCxnSpPr>
        <p:spPr>
          <a:xfrm flipV="1">
            <a:off x="7043472" y="3899189"/>
            <a:ext cx="3943535" cy="1488935"/>
          </a:xfrm>
          <a:prstGeom prst="line">
            <a:avLst/>
          </a:prstGeom>
          <a:ln w="412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46C283AB-900C-47BC-8A58-EEB29EF0D5B9}"/>
              </a:ext>
            </a:extLst>
          </p:cNvPr>
          <p:cNvCxnSpPr>
            <a:cxnSpLocks/>
          </p:cNvCxnSpPr>
          <p:nvPr/>
        </p:nvCxnSpPr>
        <p:spPr>
          <a:xfrm flipV="1">
            <a:off x="6824444" y="3168941"/>
            <a:ext cx="3753263" cy="1311399"/>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B0FEBB92-E621-4F02-9948-3992B87BF719}"/>
              </a:ext>
            </a:extLst>
          </p:cNvPr>
          <p:cNvSpPr/>
          <p:nvPr/>
        </p:nvSpPr>
        <p:spPr>
          <a:xfrm rot="7046013">
            <a:off x="2975902" y="2916073"/>
            <a:ext cx="2129225" cy="1282765"/>
          </a:xfrm>
          <a:prstGeom prst="ellipse">
            <a:avLst/>
          </a:prstGeom>
          <a:solidFill>
            <a:srgbClr val="FFFF00">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Elipse 27">
            <a:extLst>
              <a:ext uri="{FF2B5EF4-FFF2-40B4-BE49-F238E27FC236}">
                <a16:creationId xmlns:a16="http://schemas.microsoft.com/office/drawing/2014/main" id="{AEEAF72C-9A16-4A6A-A3E9-D98ADB00609E}"/>
              </a:ext>
            </a:extLst>
          </p:cNvPr>
          <p:cNvSpPr/>
          <p:nvPr/>
        </p:nvSpPr>
        <p:spPr>
          <a:xfrm rot="4103082">
            <a:off x="791006" y="2920308"/>
            <a:ext cx="2129225" cy="1282765"/>
          </a:xfrm>
          <a:prstGeom prst="ellipse">
            <a:avLst/>
          </a:prstGeom>
          <a:solidFill>
            <a:srgbClr val="92D050">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Elipse 28">
            <a:extLst>
              <a:ext uri="{FF2B5EF4-FFF2-40B4-BE49-F238E27FC236}">
                <a16:creationId xmlns:a16="http://schemas.microsoft.com/office/drawing/2014/main" id="{73DCCEBC-6072-4CE2-BFE4-E8A461044331}"/>
              </a:ext>
            </a:extLst>
          </p:cNvPr>
          <p:cNvSpPr/>
          <p:nvPr/>
        </p:nvSpPr>
        <p:spPr>
          <a:xfrm>
            <a:off x="2577890" y="4643656"/>
            <a:ext cx="742851" cy="652825"/>
          </a:xfrm>
          <a:prstGeom prst="ellipse">
            <a:avLst/>
          </a:prstGeom>
          <a:solidFill>
            <a:srgbClr val="FF0000">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stomShape 3">
            <a:extLst>
              <a:ext uri="{FF2B5EF4-FFF2-40B4-BE49-F238E27FC236}">
                <a16:creationId xmlns:a16="http://schemas.microsoft.com/office/drawing/2014/main" id="{10D96869-6847-470A-B217-49064DA37977}"/>
              </a:ext>
            </a:extLst>
          </p:cNvPr>
          <p:cNvSpPr/>
          <p:nvPr/>
        </p:nvSpPr>
        <p:spPr>
          <a:xfrm>
            <a:off x="3944379" y="1553044"/>
            <a:ext cx="3580338"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r>
              <a:rPr lang="es-ES" sz="1800" b="0" strike="noStrike" spc="-1" dirty="0">
                <a:solidFill>
                  <a:schemeClr val="bg1"/>
                </a:solidFill>
                <a:latin typeface="Arial"/>
              </a:rPr>
              <a:t>Y = β</a:t>
            </a:r>
            <a:r>
              <a:rPr lang="es-ES" sz="1800" b="0" strike="noStrike" spc="-1" baseline="-25000" dirty="0">
                <a:solidFill>
                  <a:schemeClr val="bg1"/>
                </a:solidFill>
                <a:latin typeface="Arial"/>
              </a:rPr>
              <a:t>0</a:t>
            </a:r>
            <a:r>
              <a:rPr lang="es-ES" sz="1800" b="0" strike="noStrike" spc="-1" dirty="0">
                <a:solidFill>
                  <a:schemeClr val="bg1"/>
                </a:solidFill>
                <a:latin typeface="Arial"/>
              </a:rPr>
              <a:t> + β</a:t>
            </a:r>
            <a:r>
              <a:rPr lang="es-ES" spc="-1" baseline="-25000" dirty="0">
                <a:solidFill>
                  <a:schemeClr val="bg1"/>
                </a:solidFill>
                <a:latin typeface="Arial"/>
              </a:rPr>
              <a:t>1</a:t>
            </a:r>
            <a:r>
              <a:rPr lang="es-ES" sz="1800" b="0" strike="noStrike" spc="-1" dirty="0">
                <a:solidFill>
                  <a:schemeClr val="bg1"/>
                </a:solidFill>
                <a:latin typeface="Arial"/>
              </a:rPr>
              <a:t>X</a:t>
            </a:r>
            <a:r>
              <a:rPr lang="es-ES" spc="-1" baseline="-25000" dirty="0">
                <a:solidFill>
                  <a:schemeClr val="bg1"/>
                </a:solidFill>
                <a:latin typeface="Arial"/>
              </a:rPr>
              <a:t>1</a:t>
            </a:r>
          </a:p>
          <a:p>
            <a:pPr algn="ctr">
              <a:lnSpc>
                <a:spcPct val="100000"/>
              </a:lnSpc>
            </a:pPr>
            <a:endParaRPr lang="es-ES" sz="1800" b="0" strike="noStrike" spc="-1" dirty="0">
              <a:latin typeface="Arial"/>
            </a:endParaRPr>
          </a:p>
        </p:txBody>
      </p:sp>
    </p:spTree>
    <p:extLst>
      <p:ext uri="{BB962C8B-B14F-4D97-AF65-F5344CB8AC3E}">
        <p14:creationId xmlns:p14="http://schemas.microsoft.com/office/powerpoint/2010/main" val="266540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8"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Gradient Descent</a:t>
            </a:r>
            <a:endParaRPr lang="es-ES" sz="4400" b="0" strike="noStrike" spc="-1">
              <a:latin typeface="Arial"/>
            </a:endParaRPr>
          </a:p>
        </p:txBody>
      </p:sp>
      <p:sp>
        <p:nvSpPr>
          <p:cNvPr id="70" name="CustomShape 2"/>
          <p:cNvSpPr/>
          <p:nvPr/>
        </p:nvSpPr>
        <p:spPr>
          <a:xfrm>
            <a:off x="838080" y="1620000"/>
            <a:ext cx="10259640"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a:solidFill>
                  <a:schemeClr val="bg1"/>
                </a:solidFill>
                <a:latin typeface="Arial"/>
              </a:rPr>
              <a:t>Problema de optimización matemática. El Gradient Descent es uno de los métodos más utilizados en algoritmos de aprendizaje supervisado.</a:t>
            </a:r>
          </a:p>
          <a:p>
            <a:pPr>
              <a:lnSpc>
                <a:spcPct val="100000"/>
              </a:lnSpc>
            </a:pPr>
            <a:r>
              <a:rPr lang="es-ES" sz="1800" b="0" strike="noStrike" spc="-1">
                <a:solidFill>
                  <a:schemeClr val="bg1"/>
                </a:solidFill>
                <a:latin typeface="Arial"/>
              </a:rPr>
              <a:t>¿Cuáles son los pesos W, que dan mejores resultados? Los que minimizan la función de coste</a:t>
            </a:r>
          </a:p>
        </p:txBody>
      </p:sp>
      <p:pic>
        <p:nvPicPr>
          <p:cNvPr id="71" name="Imagen 1"/>
          <p:cNvPicPr/>
          <p:nvPr/>
        </p:nvPicPr>
        <p:blipFill>
          <a:blip r:embed="rId3"/>
          <a:stretch/>
        </p:blipFill>
        <p:spPr>
          <a:xfrm>
            <a:off x="3057525" y="2831941"/>
            <a:ext cx="5181600" cy="3096360"/>
          </a:xfrm>
          <a:prstGeom prst="rect">
            <a:avLst/>
          </a:prstGeom>
          <a:ln w="0">
            <a:noFill/>
          </a:ln>
        </p:spPr>
      </p:pic>
      <p:sp>
        <p:nvSpPr>
          <p:cNvPr id="73" name="CustomShape 3"/>
          <p:cNvSpPr/>
          <p:nvPr/>
        </p:nvSpPr>
        <p:spPr>
          <a:xfrm>
            <a:off x="431640" y="6114960"/>
            <a:ext cx="14151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0" u="sng" strike="noStrike" spc="-1">
                <a:solidFill>
                  <a:srgbClr val="0563C1"/>
                </a:solidFill>
                <a:uFillTx/>
                <a:latin typeface="Calibri"/>
                <a:ea typeface="DejaVu Sans"/>
                <a:hlinkClick r:id="rId4"/>
              </a:rPr>
              <a:t>Demo</a:t>
            </a:r>
            <a:endParaRPr lang="es-ES" sz="18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Gradient Descent</a:t>
            </a:r>
            <a:endParaRPr lang="es-ES" sz="4400" b="0" strike="noStrike" spc="-1">
              <a:latin typeface="Arial"/>
            </a:endParaRPr>
          </a:p>
        </p:txBody>
      </p:sp>
      <p:pic>
        <p:nvPicPr>
          <p:cNvPr id="72" name="Imagen 71"/>
          <p:cNvPicPr/>
          <p:nvPr/>
        </p:nvPicPr>
        <p:blipFill>
          <a:blip r:embed="rId3"/>
          <a:stretch/>
        </p:blipFill>
        <p:spPr>
          <a:xfrm>
            <a:off x="6410325" y="1689839"/>
            <a:ext cx="4526774" cy="2316921"/>
          </a:xfrm>
          <a:prstGeom prst="rect">
            <a:avLst/>
          </a:prstGeom>
          <a:ln w="0">
            <a:noFill/>
          </a:ln>
        </p:spPr>
      </p:pic>
      <p:pic>
        <p:nvPicPr>
          <p:cNvPr id="3074" name="Picture 2" descr="La parábola - MathCracker.com">
            <a:extLst>
              <a:ext uri="{FF2B5EF4-FFF2-40B4-BE49-F238E27FC236}">
                <a16:creationId xmlns:a16="http://schemas.microsoft.com/office/drawing/2014/main" id="{C154E101-C9C9-4D86-9ED8-F32364E431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5" y="1689840"/>
            <a:ext cx="3352800" cy="240563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51E82510-0A77-4201-8968-07D004C4C2DF}"/>
              </a:ext>
            </a:extLst>
          </p:cNvPr>
          <p:cNvSpPr txBox="1"/>
          <p:nvPr/>
        </p:nvSpPr>
        <p:spPr>
          <a:xfrm>
            <a:off x="4791075" y="1689840"/>
            <a:ext cx="1619250" cy="646331"/>
          </a:xfrm>
          <a:prstGeom prst="rect">
            <a:avLst/>
          </a:prstGeom>
          <a:noFill/>
        </p:spPr>
        <p:txBody>
          <a:bodyPr wrap="square" rtlCol="0">
            <a:spAutoFit/>
          </a:bodyPr>
          <a:lstStyle/>
          <a:p>
            <a:r>
              <a:rPr lang="es-ES" dirty="0">
                <a:solidFill>
                  <a:schemeClr val="bg1"/>
                </a:solidFill>
              </a:rPr>
              <a:t>f(x) = x</a:t>
            </a:r>
            <a:r>
              <a:rPr lang="es-ES" baseline="30000" dirty="0">
                <a:solidFill>
                  <a:schemeClr val="bg1"/>
                </a:solidFill>
              </a:rPr>
              <a:t>2</a:t>
            </a:r>
          </a:p>
          <a:p>
            <a:r>
              <a:rPr lang="es-ES" dirty="0">
                <a:solidFill>
                  <a:schemeClr val="bg1"/>
                </a:solidFill>
              </a:rPr>
              <a:t>d/</a:t>
            </a:r>
            <a:r>
              <a:rPr lang="es-ES" dirty="0" err="1">
                <a:solidFill>
                  <a:schemeClr val="bg1"/>
                </a:solidFill>
              </a:rPr>
              <a:t>dx</a:t>
            </a:r>
            <a:r>
              <a:rPr lang="es-ES" dirty="0">
                <a:solidFill>
                  <a:schemeClr val="bg1"/>
                </a:solidFill>
              </a:rPr>
              <a:t> = 2x</a:t>
            </a:r>
          </a:p>
        </p:txBody>
      </p:sp>
      <p:cxnSp>
        <p:nvCxnSpPr>
          <p:cNvPr id="9" name="Conector recto 8">
            <a:extLst>
              <a:ext uri="{FF2B5EF4-FFF2-40B4-BE49-F238E27FC236}">
                <a16:creationId xmlns:a16="http://schemas.microsoft.com/office/drawing/2014/main" id="{27A851EA-3C95-4524-879F-8F82D61AB543}"/>
              </a:ext>
            </a:extLst>
          </p:cNvPr>
          <p:cNvCxnSpPr>
            <a:cxnSpLocks/>
          </p:cNvCxnSpPr>
          <p:nvPr/>
        </p:nvCxnSpPr>
        <p:spPr>
          <a:xfrm flipV="1">
            <a:off x="2736231" y="2238946"/>
            <a:ext cx="1582426" cy="1856528"/>
          </a:xfrm>
          <a:prstGeom prst="line">
            <a:avLst/>
          </a:prstGeom>
          <a:ln w="12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0C84C15-45BE-4F01-8C2E-F143B3707F3C}"/>
              </a:ext>
            </a:extLst>
          </p:cNvPr>
          <p:cNvCxnSpPr>
            <a:cxnSpLocks/>
          </p:cNvCxnSpPr>
          <p:nvPr/>
        </p:nvCxnSpPr>
        <p:spPr>
          <a:xfrm>
            <a:off x="1171576" y="2405063"/>
            <a:ext cx="1359693" cy="1671637"/>
          </a:xfrm>
          <a:prstGeom prst="line">
            <a:avLst/>
          </a:prstGeom>
          <a:ln w="12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8BA61BFA-96FC-4AC4-AE56-43CECCD3BC31}"/>
              </a:ext>
            </a:extLst>
          </p:cNvPr>
          <p:cNvCxnSpPr/>
          <p:nvPr/>
        </p:nvCxnSpPr>
        <p:spPr>
          <a:xfrm flipV="1">
            <a:off x="3386138" y="3323519"/>
            <a:ext cx="0" cy="4150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43796B1B-EA83-42F2-9962-4F1C5DBA5D32}"/>
              </a:ext>
            </a:extLst>
          </p:cNvPr>
          <p:cNvCxnSpPr/>
          <p:nvPr/>
        </p:nvCxnSpPr>
        <p:spPr>
          <a:xfrm flipV="1">
            <a:off x="1915803" y="3323519"/>
            <a:ext cx="0" cy="4150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843ABA87-F374-47AF-BAAB-4762495AE4A0}"/>
              </a:ext>
            </a:extLst>
          </p:cNvPr>
          <p:cNvSpPr txBox="1"/>
          <p:nvPr/>
        </p:nvSpPr>
        <p:spPr>
          <a:xfrm>
            <a:off x="3788476" y="2763141"/>
            <a:ext cx="547687" cy="215444"/>
          </a:xfrm>
          <a:prstGeom prst="rect">
            <a:avLst/>
          </a:prstGeom>
          <a:noFill/>
        </p:spPr>
        <p:txBody>
          <a:bodyPr wrap="square" rtlCol="0">
            <a:spAutoFit/>
          </a:bodyPr>
          <a:lstStyle/>
          <a:p>
            <a:pPr algn="ctr"/>
            <a:r>
              <a:rPr lang="es-ES" sz="800" dirty="0"/>
              <a:t>m = 4</a:t>
            </a:r>
          </a:p>
        </p:txBody>
      </p:sp>
      <p:sp>
        <p:nvSpPr>
          <p:cNvPr id="24" name="CuadroTexto 23">
            <a:extLst>
              <a:ext uri="{FF2B5EF4-FFF2-40B4-BE49-F238E27FC236}">
                <a16:creationId xmlns:a16="http://schemas.microsoft.com/office/drawing/2014/main" id="{054507C4-FED7-4320-BD98-58E0B94470C1}"/>
              </a:ext>
            </a:extLst>
          </p:cNvPr>
          <p:cNvSpPr txBox="1"/>
          <p:nvPr/>
        </p:nvSpPr>
        <p:spPr>
          <a:xfrm>
            <a:off x="1054157" y="2763141"/>
            <a:ext cx="547687" cy="215444"/>
          </a:xfrm>
          <a:prstGeom prst="rect">
            <a:avLst/>
          </a:prstGeom>
          <a:noFill/>
        </p:spPr>
        <p:txBody>
          <a:bodyPr wrap="square" rtlCol="0">
            <a:spAutoFit/>
          </a:bodyPr>
          <a:lstStyle/>
          <a:p>
            <a:pPr algn="ctr"/>
            <a:r>
              <a:rPr lang="es-ES" sz="800" dirty="0"/>
              <a:t>m = -4</a:t>
            </a:r>
          </a:p>
        </p:txBody>
      </p:sp>
      <p:sp>
        <p:nvSpPr>
          <p:cNvPr id="27" name="CustomShape 3">
            <a:extLst>
              <a:ext uri="{FF2B5EF4-FFF2-40B4-BE49-F238E27FC236}">
                <a16:creationId xmlns:a16="http://schemas.microsoft.com/office/drawing/2014/main" id="{0952D083-0F26-4694-B861-8EB863A09963}"/>
              </a:ext>
            </a:extLst>
          </p:cNvPr>
          <p:cNvSpPr/>
          <p:nvPr/>
        </p:nvSpPr>
        <p:spPr>
          <a:xfrm>
            <a:off x="1025642" y="4925217"/>
            <a:ext cx="9485429" cy="124423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Buscamos que la pendiente sea 0</a:t>
            </a:r>
          </a:p>
          <a:p>
            <a:pPr>
              <a:lnSpc>
                <a:spcPct val="100000"/>
              </a:lnSpc>
            </a:pPr>
            <a:r>
              <a:rPr lang="es-ES" sz="1800" b="0" strike="noStrike" spc="-1" dirty="0">
                <a:solidFill>
                  <a:schemeClr val="bg1"/>
                </a:solidFill>
                <a:latin typeface="Arial"/>
              </a:rPr>
              <a:t>Si es positiva, estamos en el lado derech</a:t>
            </a:r>
            <a:r>
              <a:rPr lang="es-ES" spc="-1" dirty="0">
                <a:solidFill>
                  <a:schemeClr val="bg1"/>
                </a:solidFill>
                <a:latin typeface="Arial"/>
              </a:rPr>
              <a:t>o de la curva -&gt; Descendemos X</a:t>
            </a:r>
          </a:p>
          <a:p>
            <a:pPr>
              <a:lnSpc>
                <a:spcPct val="100000"/>
              </a:lnSpc>
            </a:pPr>
            <a:r>
              <a:rPr lang="es-ES" sz="1800" b="0" strike="noStrike" spc="-1" dirty="0">
                <a:solidFill>
                  <a:schemeClr val="bg1"/>
                </a:solidFill>
                <a:latin typeface="Arial"/>
              </a:rPr>
              <a:t>Si es negativa, estamos en el lado izquierdo</a:t>
            </a:r>
            <a:r>
              <a:rPr lang="es-ES" spc="-1" dirty="0">
                <a:solidFill>
                  <a:schemeClr val="bg1"/>
                </a:solidFill>
                <a:latin typeface="Arial"/>
              </a:rPr>
              <a:t> de la curva -&gt; Aumentamos X</a:t>
            </a:r>
            <a:endParaRPr lang="es-ES" sz="1800" b="0" strike="noStrike" spc="-1" dirty="0">
              <a:solidFill>
                <a:schemeClr val="bg1"/>
              </a:solidFill>
              <a:latin typeface="Arial"/>
            </a:endParaRPr>
          </a:p>
        </p:txBody>
      </p:sp>
    </p:spTree>
    <p:extLst>
      <p:ext uri="{BB962C8B-B14F-4D97-AF65-F5344CB8AC3E}">
        <p14:creationId xmlns:p14="http://schemas.microsoft.com/office/powerpoint/2010/main" val="57515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Gradient Descent</a:t>
            </a:r>
            <a:endParaRPr lang="es-ES" sz="4400" b="0" strike="noStrike" spc="-1">
              <a:latin typeface="Arial"/>
            </a:endParaRPr>
          </a:p>
        </p:txBody>
      </p:sp>
      <p:sp>
        <p:nvSpPr>
          <p:cNvPr id="27" name="CustomShape 3">
            <a:extLst>
              <a:ext uri="{FF2B5EF4-FFF2-40B4-BE49-F238E27FC236}">
                <a16:creationId xmlns:a16="http://schemas.microsoft.com/office/drawing/2014/main" id="{0952D083-0F26-4694-B861-8EB863A09963}"/>
              </a:ext>
            </a:extLst>
          </p:cNvPr>
          <p:cNvSpPr/>
          <p:nvPr/>
        </p:nvSpPr>
        <p:spPr>
          <a:xfrm>
            <a:off x="838080" y="1573781"/>
            <a:ext cx="2878243"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1. Función de costes</a:t>
            </a:r>
          </a:p>
        </p:txBody>
      </p:sp>
      <p:pic>
        <p:nvPicPr>
          <p:cNvPr id="4" name="Imagen 3">
            <a:extLst>
              <a:ext uri="{FF2B5EF4-FFF2-40B4-BE49-F238E27FC236}">
                <a16:creationId xmlns:a16="http://schemas.microsoft.com/office/drawing/2014/main" id="{30608872-8D5C-4B40-A59C-7668F42F5C48}"/>
              </a:ext>
            </a:extLst>
          </p:cNvPr>
          <p:cNvPicPr>
            <a:picLocks noChangeAspect="1"/>
          </p:cNvPicPr>
          <p:nvPr/>
        </p:nvPicPr>
        <p:blipFill>
          <a:blip r:embed="rId3"/>
          <a:stretch>
            <a:fillRect/>
          </a:stretch>
        </p:blipFill>
        <p:spPr>
          <a:xfrm>
            <a:off x="899807" y="2009129"/>
            <a:ext cx="3407846" cy="715227"/>
          </a:xfrm>
          <a:prstGeom prst="rect">
            <a:avLst/>
          </a:prstGeom>
        </p:spPr>
      </p:pic>
      <p:pic>
        <p:nvPicPr>
          <p:cNvPr id="6" name="Imagen 5">
            <a:extLst>
              <a:ext uri="{FF2B5EF4-FFF2-40B4-BE49-F238E27FC236}">
                <a16:creationId xmlns:a16="http://schemas.microsoft.com/office/drawing/2014/main" id="{C31EC277-9610-48F0-9CCB-1CCF007C78B5}"/>
              </a:ext>
            </a:extLst>
          </p:cNvPr>
          <p:cNvPicPr>
            <a:picLocks noChangeAspect="1"/>
          </p:cNvPicPr>
          <p:nvPr/>
        </p:nvPicPr>
        <p:blipFill>
          <a:blip r:embed="rId4"/>
          <a:stretch>
            <a:fillRect/>
          </a:stretch>
        </p:blipFill>
        <p:spPr>
          <a:xfrm>
            <a:off x="899807" y="3598091"/>
            <a:ext cx="2949997" cy="1035452"/>
          </a:xfrm>
          <a:prstGeom prst="rect">
            <a:avLst/>
          </a:prstGeom>
        </p:spPr>
      </p:pic>
      <p:sp>
        <p:nvSpPr>
          <p:cNvPr id="17" name="CustomShape 3">
            <a:extLst>
              <a:ext uri="{FF2B5EF4-FFF2-40B4-BE49-F238E27FC236}">
                <a16:creationId xmlns:a16="http://schemas.microsoft.com/office/drawing/2014/main" id="{DEFC37E2-5FAF-4348-B209-7CF7E3620EF8}"/>
              </a:ext>
            </a:extLst>
          </p:cNvPr>
          <p:cNvSpPr/>
          <p:nvPr/>
        </p:nvSpPr>
        <p:spPr>
          <a:xfrm>
            <a:off x="838080" y="3260349"/>
            <a:ext cx="3834588"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2. Gradiente – Derivadas parciales parciales</a:t>
            </a:r>
          </a:p>
        </p:txBody>
      </p:sp>
      <p:sp>
        <p:nvSpPr>
          <p:cNvPr id="18" name="CustomShape 3">
            <a:extLst>
              <a:ext uri="{FF2B5EF4-FFF2-40B4-BE49-F238E27FC236}">
                <a16:creationId xmlns:a16="http://schemas.microsoft.com/office/drawing/2014/main" id="{1D948A0C-C25A-4F6A-8DE1-BC8C07C343B4}"/>
              </a:ext>
            </a:extLst>
          </p:cNvPr>
          <p:cNvSpPr/>
          <p:nvPr/>
        </p:nvSpPr>
        <p:spPr>
          <a:xfrm>
            <a:off x="899807" y="5206955"/>
            <a:ext cx="4413429"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3. Vemos cuánto de lejos estamos del mínimo</a:t>
            </a:r>
          </a:p>
        </p:txBody>
      </p:sp>
      <p:sp>
        <p:nvSpPr>
          <p:cNvPr id="19" name="CustomShape 3">
            <a:extLst>
              <a:ext uri="{FF2B5EF4-FFF2-40B4-BE49-F238E27FC236}">
                <a16:creationId xmlns:a16="http://schemas.microsoft.com/office/drawing/2014/main" id="{A8B77F3A-8661-4581-BCCE-883F47E831C0}"/>
              </a:ext>
            </a:extLst>
          </p:cNvPr>
          <p:cNvSpPr/>
          <p:nvPr/>
        </p:nvSpPr>
        <p:spPr>
          <a:xfrm>
            <a:off x="6158099" y="1573781"/>
            <a:ext cx="4413429"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4. Actualizamos w y b para la siguiente iteración</a:t>
            </a:r>
          </a:p>
        </p:txBody>
      </p:sp>
      <p:pic>
        <p:nvPicPr>
          <p:cNvPr id="8" name="Imagen 7">
            <a:extLst>
              <a:ext uri="{FF2B5EF4-FFF2-40B4-BE49-F238E27FC236}">
                <a16:creationId xmlns:a16="http://schemas.microsoft.com/office/drawing/2014/main" id="{2AB18345-A40A-4EA6-8ED8-89A5538340CF}"/>
              </a:ext>
            </a:extLst>
          </p:cNvPr>
          <p:cNvPicPr>
            <a:picLocks noChangeAspect="1"/>
          </p:cNvPicPr>
          <p:nvPr/>
        </p:nvPicPr>
        <p:blipFill>
          <a:blip r:embed="rId5"/>
          <a:stretch>
            <a:fillRect/>
          </a:stretch>
        </p:blipFill>
        <p:spPr>
          <a:xfrm>
            <a:off x="6284884" y="2338388"/>
            <a:ext cx="2070552" cy="1284976"/>
          </a:xfrm>
          <a:prstGeom prst="rect">
            <a:avLst/>
          </a:prstGeom>
        </p:spPr>
      </p:pic>
      <p:sp>
        <p:nvSpPr>
          <p:cNvPr id="23" name="CustomShape 3">
            <a:extLst>
              <a:ext uri="{FF2B5EF4-FFF2-40B4-BE49-F238E27FC236}">
                <a16:creationId xmlns:a16="http://schemas.microsoft.com/office/drawing/2014/main" id="{04014DAA-A216-4B9F-9387-38CB61ADC9C4}"/>
              </a:ext>
            </a:extLst>
          </p:cNvPr>
          <p:cNvSpPr/>
          <p:nvPr/>
        </p:nvSpPr>
        <p:spPr>
          <a:xfrm>
            <a:off x="6218219" y="3814253"/>
            <a:ext cx="3890515"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1" strike="noStrike" spc="-1" dirty="0" err="1">
                <a:solidFill>
                  <a:schemeClr val="bg1"/>
                </a:solidFill>
                <a:latin typeface="Arial"/>
              </a:rPr>
              <a:t>Learning</a:t>
            </a:r>
            <a:r>
              <a:rPr lang="es-ES" sz="1800" b="1" strike="noStrike" spc="-1" dirty="0">
                <a:solidFill>
                  <a:schemeClr val="bg1"/>
                </a:solidFill>
                <a:latin typeface="Arial"/>
              </a:rPr>
              <a:t> </a:t>
            </a:r>
            <a:r>
              <a:rPr lang="es-ES" sz="1800" b="1" strike="noStrike" spc="-1" dirty="0" err="1">
                <a:solidFill>
                  <a:schemeClr val="bg1"/>
                </a:solidFill>
                <a:latin typeface="Arial"/>
              </a:rPr>
              <a:t>rate</a:t>
            </a:r>
            <a:r>
              <a:rPr lang="es-ES" sz="1800" strike="noStrike" spc="-1" dirty="0">
                <a:solidFill>
                  <a:schemeClr val="bg1"/>
                </a:solidFill>
                <a:latin typeface="Arial"/>
              </a:rPr>
              <a:t> (</a:t>
            </a:r>
            <a:r>
              <a:rPr lang="el-GR" sz="1800" strike="noStrike" spc="-1" dirty="0">
                <a:solidFill>
                  <a:schemeClr val="bg1"/>
                </a:solidFill>
                <a:latin typeface="Arial"/>
              </a:rPr>
              <a:t>α</a:t>
            </a:r>
            <a:r>
              <a:rPr lang="es-ES" sz="1800" strike="noStrike" spc="-1" dirty="0">
                <a:solidFill>
                  <a:schemeClr val="bg1"/>
                </a:solidFill>
                <a:latin typeface="Arial"/>
              </a:rPr>
              <a:t>): parámetro que determina el salto, definido por nosotros.</a:t>
            </a:r>
            <a:endParaRPr lang="es-ES" sz="1800" b="1" strike="noStrike" spc="-1" dirty="0">
              <a:solidFill>
                <a:schemeClr val="bg1"/>
              </a:solidFill>
              <a:latin typeface="Arial"/>
            </a:endParaRPr>
          </a:p>
        </p:txBody>
      </p:sp>
      <p:sp>
        <p:nvSpPr>
          <p:cNvPr id="25" name="CustomShape 3">
            <a:extLst>
              <a:ext uri="{FF2B5EF4-FFF2-40B4-BE49-F238E27FC236}">
                <a16:creationId xmlns:a16="http://schemas.microsoft.com/office/drawing/2014/main" id="{9603730C-B42D-4678-BDB7-8C6317182FFE}"/>
              </a:ext>
            </a:extLst>
          </p:cNvPr>
          <p:cNvSpPr/>
          <p:nvPr/>
        </p:nvSpPr>
        <p:spPr>
          <a:xfrm>
            <a:off x="6167180" y="5191481"/>
            <a:ext cx="4413429" cy="4353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pc="-1" dirty="0">
                <a:solidFill>
                  <a:schemeClr val="bg1"/>
                </a:solidFill>
                <a:latin typeface="Arial"/>
              </a:rPr>
              <a:t>5</a:t>
            </a:r>
            <a:r>
              <a:rPr lang="es-ES" sz="1800" b="0" strike="noStrike" spc="-1" dirty="0">
                <a:solidFill>
                  <a:schemeClr val="bg1"/>
                </a:solidFill>
                <a:latin typeface="Arial"/>
              </a:rPr>
              <a:t>. Acaba el algoritmo cuando alcanzamos la convergencia</a:t>
            </a:r>
          </a:p>
        </p:txBody>
      </p:sp>
    </p:spTree>
    <p:extLst>
      <p:ext uri="{BB962C8B-B14F-4D97-AF65-F5344CB8AC3E}">
        <p14:creationId xmlns:p14="http://schemas.microsoft.com/office/powerpoint/2010/main" val="410751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3"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CustomShape 1"/>
          <p:cNvSpPr/>
          <p:nvPr/>
        </p:nvSpPr>
        <p:spPr>
          <a:xfrm>
            <a:off x="2233440" y="2430000"/>
            <a:ext cx="772488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a:solidFill>
                  <a:srgbClr val="FF0000"/>
                </a:solidFill>
                <a:latin typeface="Calibri Light"/>
              </a:rPr>
              <a:t>¿Cómo interpreto los pesos (w)?</a:t>
            </a:r>
            <a:endParaRPr lang="es-ES" sz="4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Coeficientes</a:t>
            </a:r>
            <a:endParaRPr lang="es-ES" sz="4400" b="0" strike="noStrike" spc="-1">
              <a:latin typeface="Arial"/>
            </a:endParaRPr>
          </a:p>
        </p:txBody>
      </p:sp>
      <p:sp>
        <p:nvSpPr>
          <p:cNvPr id="77" name="CustomShape 2"/>
          <p:cNvSpPr/>
          <p:nvPr/>
        </p:nvSpPr>
        <p:spPr>
          <a:xfrm>
            <a:off x="900000" y="1800000"/>
            <a:ext cx="1043964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a:solidFill>
                  <a:schemeClr val="bg1"/>
                </a:solidFill>
                <a:latin typeface="Arial"/>
              </a:rPr>
              <a:t>Si queremos predecir el precio de casas de un DF, podríamos obtener los siguientes coeficientes:</a:t>
            </a:r>
          </a:p>
          <a:p>
            <a:pPr>
              <a:lnSpc>
                <a:spcPct val="100000"/>
              </a:lnSpc>
            </a:pPr>
            <a:endParaRPr lang="es-ES" sz="1800" b="0" strike="noStrike" spc="-1">
              <a:solidFill>
                <a:schemeClr val="bg1"/>
              </a:solidFill>
              <a:latin typeface="Arial"/>
            </a:endParaRPr>
          </a:p>
        </p:txBody>
      </p:sp>
      <p:sp>
        <p:nvSpPr>
          <p:cNvPr id="78" name="CustomShape 3"/>
          <p:cNvSpPr/>
          <p:nvPr/>
        </p:nvSpPr>
        <p:spPr>
          <a:xfrm>
            <a:off x="900000" y="4500000"/>
            <a:ext cx="10439640" cy="188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E interpretaríamos la regresión lineal como:</a:t>
            </a:r>
          </a:p>
          <a:p>
            <a:pPr>
              <a:lnSpc>
                <a:spcPct val="100000"/>
              </a:lnSpc>
            </a:pPr>
            <a:endParaRPr lang="es-ES" sz="1800" b="0" strike="noStrike" spc="-1" dirty="0">
              <a:solidFill>
                <a:schemeClr val="bg1"/>
              </a:solidFill>
              <a:latin typeface="Arial"/>
            </a:endParaRPr>
          </a:p>
          <a:p>
            <a:pPr>
              <a:lnSpc>
                <a:spcPct val="100000"/>
              </a:lnSpc>
            </a:pPr>
            <a:r>
              <a:rPr lang="es-ES" sz="1800" b="0" strike="noStrike" spc="-1" dirty="0">
                <a:solidFill>
                  <a:schemeClr val="bg1"/>
                </a:solidFill>
                <a:latin typeface="Arial"/>
              </a:rPr>
              <a:t>y = w1*x1 + w2*x2 + w3*x3 + w4*x4 + w5*x5</a:t>
            </a:r>
          </a:p>
          <a:p>
            <a:pPr>
              <a:lnSpc>
                <a:spcPct val="100000"/>
              </a:lnSpc>
            </a:pPr>
            <a:endParaRPr lang="es-ES" sz="1800" b="0" strike="noStrike" spc="-1" dirty="0">
              <a:solidFill>
                <a:schemeClr val="bg1"/>
              </a:solidFill>
              <a:latin typeface="Arial"/>
            </a:endParaRPr>
          </a:p>
          <a:p>
            <a:pPr>
              <a:lnSpc>
                <a:spcPct val="100000"/>
              </a:lnSpc>
            </a:pPr>
            <a:r>
              <a:rPr lang="es-ES" sz="1800" b="0" strike="noStrike" spc="-1" dirty="0">
                <a:solidFill>
                  <a:schemeClr val="bg1"/>
                </a:solidFill>
                <a:latin typeface="Arial"/>
              </a:rPr>
              <a:t>Precio casas = 21.6 * (</a:t>
            </a:r>
            <a:r>
              <a:rPr lang="es-ES" sz="1800" b="0" strike="noStrike" spc="-1" dirty="0" err="1">
                <a:solidFill>
                  <a:schemeClr val="bg1"/>
                </a:solidFill>
                <a:latin typeface="Arial"/>
              </a:rPr>
              <a:t>Avg</a:t>
            </a:r>
            <a:r>
              <a:rPr lang="es-ES" sz="1800" b="0" strike="noStrike" spc="-1" dirty="0">
                <a:solidFill>
                  <a:schemeClr val="bg1"/>
                </a:solidFill>
                <a:latin typeface="Arial"/>
              </a:rPr>
              <a:t>. </a:t>
            </a:r>
            <a:r>
              <a:rPr lang="es-ES" sz="1800" b="0" strike="noStrike" spc="-1" dirty="0" err="1">
                <a:solidFill>
                  <a:schemeClr val="bg1"/>
                </a:solidFill>
                <a:latin typeface="Arial"/>
              </a:rPr>
              <a:t>Area</a:t>
            </a:r>
            <a:r>
              <a:rPr lang="es-ES" sz="1800" b="0" strike="noStrike" spc="-1" dirty="0">
                <a:solidFill>
                  <a:schemeClr val="bg1"/>
                </a:solidFill>
                <a:latin typeface="Arial"/>
              </a:rPr>
              <a:t> Income) + 165590.4 * (</a:t>
            </a:r>
            <a:r>
              <a:rPr lang="es-ES" sz="1800" b="0" strike="noStrike" spc="-1" dirty="0" err="1">
                <a:solidFill>
                  <a:schemeClr val="bg1"/>
                </a:solidFill>
                <a:latin typeface="Arial"/>
              </a:rPr>
              <a:t>Avg</a:t>
            </a:r>
            <a:r>
              <a:rPr lang="es-ES" sz="1800" b="0" strike="noStrike" spc="-1" dirty="0">
                <a:solidFill>
                  <a:schemeClr val="bg1"/>
                </a:solidFill>
                <a:latin typeface="Arial"/>
              </a:rPr>
              <a:t>. </a:t>
            </a:r>
            <a:r>
              <a:rPr lang="es-ES" sz="1800" b="0" strike="noStrike" spc="-1" dirty="0" err="1">
                <a:solidFill>
                  <a:schemeClr val="bg1"/>
                </a:solidFill>
                <a:latin typeface="Arial"/>
              </a:rPr>
              <a:t>Area</a:t>
            </a:r>
            <a:r>
              <a:rPr lang="es-ES" sz="1800" b="0" strike="noStrike" spc="-1" dirty="0">
                <a:solidFill>
                  <a:schemeClr val="bg1"/>
                </a:solidFill>
                <a:latin typeface="Arial"/>
              </a:rPr>
              <a:t> House Age)…..</a:t>
            </a:r>
          </a:p>
          <a:p>
            <a:pPr>
              <a:lnSpc>
                <a:spcPct val="100000"/>
              </a:lnSpc>
            </a:pPr>
            <a:endParaRPr lang="es-ES" sz="1800" b="0" strike="noStrike" spc="-1" dirty="0">
              <a:solidFill>
                <a:schemeClr val="bg1"/>
              </a:solidFill>
              <a:latin typeface="Arial"/>
            </a:endParaRPr>
          </a:p>
          <a:p>
            <a:pPr>
              <a:lnSpc>
                <a:spcPct val="100000"/>
              </a:lnSpc>
            </a:pPr>
            <a:r>
              <a:rPr lang="es-ES" sz="1800" b="1" strike="noStrike" spc="-1" dirty="0">
                <a:solidFill>
                  <a:schemeClr val="bg1"/>
                </a:solidFill>
                <a:latin typeface="Arial"/>
              </a:rPr>
              <a:t>¿Cómo se interpreta esto?</a:t>
            </a:r>
            <a:r>
              <a:rPr lang="es-ES" sz="1800" b="0" strike="noStrike" spc="-1" dirty="0">
                <a:solidFill>
                  <a:schemeClr val="bg1"/>
                </a:solidFill>
                <a:latin typeface="Arial"/>
              </a:rPr>
              <a:t> Por cada unidad de </a:t>
            </a:r>
            <a:r>
              <a:rPr lang="es-ES" sz="1800" b="0" i="1" strike="noStrike" spc="-1" dirty="0" err="1">
                <a:solidFill>
                  <a:schemeClr val="bg1"/>
                </a:solidFill>
                <a:latin typeface="Arial"/>
              </a:rPr>
              <a:t>Avg</a:t>
            </a:r>
            <a:r>
              <a:rPr lang="es-ES" sz="1800" b="0" i="1" strike="noStrike" spc="-1" dirty="0">
                <a:solidFill>
                  <a:schemeClr val="bg1"/>
                </a:solidFill>
                <a:latin typeface="Arial"/>
              </a:rPr>
              <a:t>. </a:t>
            </a:r>
            <a:r>
              <a:rPr lang="es-ES" sz="1800" b="0" i="1" strike="noStrike" spc="-1" dirty="0" err="1">
                <a:solidFill>
                  <a:schemeClr val="bg1"/>
                </a:solidFill>
                <a:latin typeface="Arial"/>
              </a:rPr>
              <a:t>Area</a:t>
            </a:r>
            <a:r>
              <a:rPr lang="es-ES" sz="1800" b="0" i="1" strike="noStrike" spc="-1" dirty="0">
                <a:solidFill>
                  <a:schemeClr val="bg1"/>
                </a:solidFill>
                <a:latin typeface="Arial"/>
              </a:rPr>
              <a:t> Income</a:t>
            </a:r>
            <a:r>
              <a:rPr lang="es-ES" sz="1800" b="0" strike="noStrike" spc="-1" dirty="0">
                <a:solidFill>
                  <a:schemeClr val="bg1"/>
                </a:solidFill>
                <a:latin typeface="Arial"/>
              </a:rPr>
              <a:t>, aumenta 21.6 el precio </a:t>
            </a:r>
          </a:p>
        </p:txBody>
      </p:sp>
      <p:pic>
        <p:nvPicPr>
          <p:cNvPr id="3" name="Imagen 2">
            <a:extLst>
              <a:ext uri="{FF2B5EF4-FFF2-40B4-BE49-F238E27FC236}">
                <a16:creationId xmlns:a16="http://schemas.microsoft.com/office/drawing/2014/main" id="{C5BB3B90-2024-46D5-A034-DCB8E15827B2}"/>
              </a:ext>
            </a:extLst>
          </p:cNvPr>
          <p:cNvPicPr>
            <a:picLocks noChangeAspect="1"/>
          </p:cNvPicPr>
          <p:nvPr/>
        </p:nvPicPr>
        <p:blipFill>
          <a:blip r:embed="rId3"/>
          <a:stretch>
            <a:fillRect/>
          </a:stretch>
        </p:blipFill>
        <p:spPr>
          <a:xfrm>
            <a:off x="1015068" y="2281119"/>
            <a:ext cx="3552388" cy="208299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Feature importance</a:t>
            </a:r>
            <a:endParaRPr lang="es-ES" sz="4400" b="0" strike="noStrike" spc="-1">
              <a:latin typeface="Arial"/>
            </a:endParaRPr>
          </a:p>
        </p:txBody>
      </p:sp>
      <p:sp>
        <p:nvSpPr>
          <p:cNvPr id="81" name="CustomShape 2"/>
          <p:cNvSpPr/>
          <p:nvPr/>
        </p:nvSpPr>
        <p:spPr>
          <a:xfrm>
            <a:off x="900000" y="1800000"/>
            <a:ext cx="1043964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a:solidFill>
                  <a:schemeClr val="bg1"/>
                </a:solidFill>
                <a:latin typeface="Arial"/>
              </a:rPr>
              <a:t>Vale, entonces cuanto más alto es el coeficiente, mayor es la importancia de la variable...</a:t>
            </a:r>
          </a:p>
          <a:p>
            <a:pPr>
              <a:lnSpc>
                <a:spcPct val="100000"/>
              </a:lnSpc>
            </a:pPr>
            <a:endParaRPr lang="es-ES" sz="1800" b="0" strike="noStrike" spc="-1">
              <a:solidFill>
                <a:schemeClr val="bg1"/>
              </a:solidFill>
              <a:latin typeface="Arial"/>
            </a:endParaRPr>
          </a:p>
        </p:txBody>
      </p:sp>
      <p:pic>
        <p:nvPicPr>
          <p:cNvPr id="82" name="Imagen 81"/>
          <p:cNvPicPr/>
          <p:nvPr/>
        </p:nvPicPr>
        <p:blipFill>
          <a:blip r:embed="rId3"/>
          <a:stretch/>
        </p:blipFill>
        <p:spPr>
          <a:xfrm>
            <a:off x="1029337" y="2373090"/>
            <a:ext cx="3534120" cy="1964880"/>
          </a:xfrm>
          <a:prstGeom prst="rect">
            <a:avLst/>
          </a:prstGeom>
          <a:ln w="0">
            <a:noFill/>
          </a:ln>
        </p:spPr>
      </p:pic>
      <p:sp>
        <p:nvSpPr>
          <p:cNvPr id="83" name="CustomShape 3"/>
          <p:cNvSpPr/>
          <p:nvPr/>
        </p:nvSpPr>
        <p:spPr>
          <a:xfrm>
            <a:off x="900000" y="4456080"/>
            <a:ext cx="10439640" cy="187760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800" b="0" strike="noStrike" spc="-1" dirty="0">
                <a:solidFill>
                  <a:schemeClr val="bg1"/>
                </a:solidFill>
                <a:latin typeface="Arial"/>
              </a:rPr>
              <a:t>NO! Estamos comparando unidades diferentes. ¿La edad de la casa es más importante que la media de ingresos de la zona?</a:t>
            </a:r>
          </a:p>
          <a:p>
            <a:pPr>
              <a:lnSpc>
                <a:spcPct val="100000"/>
              </a:lnSpc>
            </a:pPr>
            <a:endParaRPr lang="es-ES" spc="-1" dirty="0">
              <a:solidFill>
                <a:schemeClr val="bg1"/>
              </a:solidFill>
              <a:latin typeface="Arial"/>
            </a:endParaRPr>
          </a:p>
          <a:p>
            <a:pPr>
              <a:lnSpc>
                <a:spcPct val="100000"/>
              </a:lnSpc>
            </a:pPr>
            <a:r>
              <a:rPr lang="es-ES" sz="1800" b="0" strike="noStrike" spc="-1" dirty="0">
                <a:solidFill>
                  <a:schemeClr val="bg1"/>
                </a:solidFill>
                <a:latin typeface="Arial"/>
              </a:rPr>
              <a:t>Precio ($) = Edad(años) + Habitaciones(</a:t>
            </a:r>
            <a:r>
              <a:rPr lang="es-ES" sz="1800" b="0" strike="noStrike" spc="-1" dirty="0" err="1">
                <a:solidFill>
                  <a:schemeClr val="bg1"/>
                </a:solidFill>
                <a:latin typeface="Arial"/>
              </a:rPr>
              <a:t>nº</a:t>
            </a:r>
            <a:r>
              <a:rPr lang="es-ES" sz="1800" b="0" strike="noStrike" spc="-1" dirty="0">
                <a:solidFill>
                  <a:schemeClr val="bg1"/>
                </a:solidFill>
                <a:latin typeface="Arial"/>
              </a:rPr>
              <a:t> habitaciones)…</a:t>
            </a:r>
          </a:p>
          <a:p>
            <a:pPr>
              <a:lnSpc>
                <a:spcPct val="100000"/>
              </a:lnSpc>
            </a:pPr>
            <a:endParaRPr lang="es-ES" sz="1800" b="0" strike="noStrike" spc="-1" dirty="0">
              <a:solidFill>
                <a:schemeClr val="bg1"/>
              </a:solidFill>
              <a:latin typeface="Arial"/>
            </a:endParaRPr>
          </a:p>
          <a:p>
            <a:pPr>
              <a:lnSpc>
                <a:spcPct val="100000"/>
              </a:lnSpc>
            </a:pPr>
            <a:r>
              <a:rPr lang="es-ES" sz="1800" b="0" strike="noStrike" spc="-1" dirty="0">
                <a:solidFill>
                  <a:schemeClr val="bg1"/>
                </a:solidFill>
                <a:latin typeface="Arial"/>
              </a:rPr>
              <a:t>¿Solución? Estandarizar los datos</a:t>
            </a:r>
          </a:p>
        </p:txBody>
      </p:sp>
      <p:pic>
        <p:nvPicPr>
          <p:cNvPr id="7" name="Imagen 6">
            <a:extLst>
              <a:ext uri="{FF2B5EF4-FFF2-40B4-BE49-F238E27FC236}">
                <a16:creationId xmlns:a16="http://schemas.microsoft.com/office/drawing/2014/main" id="{051CF834-81E7-4561-B1B9-63D0A6758419}"/>
              </a:ext>
            </a:extLst>
          </p:cNvPr>
          <p:cNvPicPr>
            <a:picLocks noChangeAspect="1"/>
          </p:cNvPicPr>
          <p:nvPr/>
        </p:nvPicPr>
        <p:blipFill>
          <a:blip r:embed="rId4"/>
          <a:stretch>
            <a:fillRect/>
          </a:stretch>
        </p:blipFill>
        <p:spPr>
          <a:xfrm>
            <a:off x="5081327" y="2551587"/>
            <a:ext cx="2992727" cy="1754826"/>
          </a:xfrm>
          <a:prstGeom prst="rect">
            <a:avLst/>
          </a:prstGeom>
        </p:spPr>
      </p:pic>
      <p:pic>
        <p:nvPicPr>
          <p:cNvPr id="3" name="Imagen 2">
            <a:extLst>
              <a:ext uri="{FF2B5EF4-FFF2-40B4-BE49-F238E27FC236}">
                <a16:creationId xmlns:a16="http://schemas.microsoft.com/office/drawing/2014/main" id="{B002BF30-8E9D-4911-AE57-71C09C9BAEF1}"/>
              </a:ext>
            </a:extLst>
          </p:cNvPr>
          <p:cNvPicPr>
            <a:picLocks noChangeAspect="1"/>
          </p:cNvPicPr>
          <p:nvPr/>
        </p:nvPicPr>
        <p:blipFill>
          <a:blip r:embed="rId5"/>
          <a:stretch>
            <a:fillRect/>
          </a:stretch>
        </p:blipFill>
        <p:spPr>
          <a:xfrm>
            <a:off x="8229600" y="2551588"/>
            <a:ext cx="3093850" cy="1754826"/>
          </a:xfrm>
          <a:prstGeom prst="rect">
            <a:avLst/>
          </a:prstGeom>
        </p:spPr>
      </p:pic>
      <p:pic>
        <p:nvPicPr>
          <p:cNvPr id="4098" name="Picture 2" descr="python — ¿Alguien puede explicarme StandardScaler?">
            <a:extLst>
              <a:ext uri="{FF2B5EF4-FFF2-40B4-BE49-F238E27FC236}">
                <a16:creationId xmlns:a16="http://schemas.microsoft.com/office/drawing/2014/main" id="{DD9F709C-66E8-4E7B-A6F3-1D0A586A177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3918" t="12874" r="15091" b="70214"/>
          <a:stretch/>
        </p:blipFill>
        <p:spPr bwMode="auto">
          <a:xfrm>
            <a:off x="7357146" y="5295832"/>
            <a:ext cx="1904301" cy="1064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2233440" y="2430000"/>
            <a:ext cx="772488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dirty="0">
                <a:solidFill>
                  <a:srgbClr val="FF0000"/>
                </a:solidFill>
                <a:latin typeface="Calibri Light"/>
              </a:rPr>
              <a:t>Condiciones para la regresión lineal</a:t>
            </a:r>
            <a:endParaRPr lang="es-ES" sz="4400" b="0" strike="noStrike" spc="-1" dirty="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dirty="0">
                <a:solidFill>
                  <a:srgbClr val="FF0000"/>
                </a:solidFill>
                <a:latin typeface="Calibri Light"/>
              </a:rPr>
              <a:t>Condiciones I</a:t>
            </a:r>
            <a:endParaRPr lang="es-ES" sz="4400" b="0" strike="noStrike" spc="-1" dirty="0">
              <a:latin typeface="Arial"/>
            </a:endParaRPr>
          </a:p>
        </p:txBody>
      </p:sp>
      <p:sp>
        <p:nvSpPr>
          <p:cNvPr id="88" name="CustomShape 3"/>
          <p:cNvSpPr/>
          <p:nvPr/>
        </p:nvSpPr>
        <p:spPr>
          <a:xfrm>
            <a:off x="875699" y="1577525"/>
            <a:ext cx="6011661" cy="431993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342900" indent="-342900">
              <a:buFontTx/>
              <a:buAutoNum type="arabicPeriod"/>
            </a:pPr>
            <a:r>
              <a:rPr lang="es-ES" sz="1800" b="0" strike="noStrike" spc="-1" dirty="0">
                <a:solidFill>
                  <a:schemeClr val="bg1"/>
                </a:solidFill>
                <a:latin typeface="Arial"/>
              </a:rPr>
              <a:t>Distribución normal del target</a:t>
            </a:r>
          </a:p>
          <a:p>
            <a:pPr marL="342900" indent="-342900">
              <a:lnSpc>
                <a:spcPct val="100000"/>
              </a:lnSpc>
              <a:buAutoNum type="arabicPeriod"/>
            </a:pPr>
            <a:r>
              <a:rPr lang="es-ES" sz="1800" b="0" strike="noStrike" spc="-1" dirty="0">
                <a:solidFill>
                  <a:schemeClr val="bg1"/>
                </a:solidFill>
                <a:latin typeface="Arial"/>
              </a:rPr>
              <a:t>No colinealidad o multicolinealidad. </a:t>
            </a:r>
            <a:r>
              <a:rPr lang="es-ES" sz="1400" b="0" strike="noStrike" spc="-1" dirty="0">
                <a:solidFill>
                  <a:schemeClr val="bg1"/>
                </a:solidFill>
                <a:latin typeface="Arial"/>
              </a:rPr>
              <a:t>Correlación entre los predictores. Lo solucionamos eliminando uno de ellos. Hay que garantizar la independencia entre todos ellos. Un coeficiente representa el cambio en la variable dependiente cuando la variable independiente se modifica en uno su unidad, manteniendo el resto de los coeficientes constantes.</a:t>
            </a:r>
          </a:p>
          <a:p>
            <a:pPr marL="342900" indent="-342900">
              <a:lnSpc>
                <a:spcPct val="100000"/>
              </a:lnSpc>
              <a:buAutoNum type="arabicPeriod"/>
            </a:pPr>
            <a:r>
              <a:rPr lang="es-ES" spc="-1" dirty="0">
                <a:solidFill>
                  <a:schemeClr val="bg1"/>
                </a:solidFill>
                <a:latin typeface="Arial"/>
              </a:rPr>
              <a:t>Relación lineal entre target y predictores. </a:t>
            </a:r>
            <a:r>
              <a:rPr lang="es-ES" sz="1400" spc="-1" dirty="0">
                <a:solidFill>
                  <a:schemeClr val="bg1"/>
                </a:solidFill>
                <a:latin typeface="Arial"/>
              </a:rPr>
              <a:t>Matriz de correlación</a:t>
            </a:r>
          </a:p>
          <a:p>
            <a:pPr marL="342900" indent="-342900">
              <a:lnSpc>
                <a:spcPct val="100000"/>
              </a:lnSpc>
              <a:buAutoNum type="arabicPeriod"/>
            </a:pPr>
            <a:r>
              <a:rPr lang="es-ES" spc="-1" dirty="0">
                <a:solidFill>
                  <a:schemeClr val="bg1"/>
                </a:solidFill>
                <a:latin typeface="Arial"/>
              </a:rPr>
              <a:t>Homocedasticidad. </a:t>
            </a:r>
            <a:r>
              <a:rPr lang="es-ES" sz="1400" spc="-1" dirty="0">
                <a:solidFill>
                  <a:schemeClr val="bg1"/>
                </a:solidFill>
                <a:latin typeface="Arial"/>
              </a:rPr>
              <a:t>Varianza constante de los errores a lo largo de las observaciones.</a:t>
            </a:r>
          </a:p>
        </p:txBody>
      </p:sp>
      <p:pic>
        <p:nvPicPr>
          <p:cNvPr id="6146" name="Picture 2" descr="Gaussian or normal (bell curve) distribution. | Download Scientific Diagram">
            <a:extLst>
              <a:ext uri="{FF2B5EF4-FFF2-40B4-BE49-F238E27FC236}">
                <a16:creationId xmlns:a16="http://schemas.microsoft.com/office/drawing/2014/main" id="{0793E8C5-609A-46F4-B3E4-C238748BB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6680" y="1031418"/>
            <a:ext cx="3174420" cy="239758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Better Heatmaps and Correlation Matrix Plots in Python | by Drazen Zaric |  Towards Data Science">
            <a:extLst>
              <a:ext uri="{FF2B5EF4-FFF2-40B4-BE49-F238E27FC236}">
                <a16:creationId xmlns:a16="http://schemas.microsoft.com/office/drawing/2014/main" id="{7A15FE77-3D9F-4F22-AB71-CE27D4AEB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239" y="4446320"/>
            <a:ext cx="2180890" cy="192785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D26544D6-91AF-4705-9C3B-48E5ADF72F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110" y="4812079"/>
            <a:ext cx="238125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D5EDB020-B343-49D2-8794-5623E35F6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9615" y="4869229"/>
            <a:ext cx="2381250" cy="150495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611F58C8-5178-4B73-BFFF-672AEF5DBC83}"/>
              </a:ext>
            </a:extLst>
          </p:cNvPr>
          <p:cNvSpPr txBox="1"/>
          <p:nvPr/>
        </p:nvSpPr>
        <p:spPr>
          <a:xfrm>
            <a:off x="4506110" y="6492960"/>
            <a:ext cx="2381250" cy="261610"/>
          </a:xfrm>
          <a:prstGeom prst="rect">
            <a:avLst/>
          </a:prstGeom>
          <a:noFill/>
        </p:spPr>
        <p:txBody>
          <a:bodyPr wrap="square" rtlCol="0">
            <a:spAutoFit/>
          </a:bodyPr>
          <a:lstStyle/>
          <a:p>
            <a:r>
              <a:rPr lang="es-ES" sz="1100" dirty="0">
                <a:solidFill>
                  <a:schemeClr val="bg1"/>
                </a:solidFill>
              </a:rPr>
              <a:t>Distribución </a:t>
            </a:r>
            <a:r>
              <a:rPr lang="es-ES" sz="1100" dirty="0" err="1">
                <a:solidFill>
                  <a:schemeClr val="bg1"/>
                </a:solidFill>
              </a:rPr>
              <a:t>Homocedástica</a:t>
            </a:r>
            <a:endParaRPr lang="es-ES" sz="1100" dirty="0">
              <a:solidFill>
                <a:schemeClr val="bg1"/>
              </a:solidFill>
            </a:endParaRPr>
          </a:p>
        </p:txBody>
      </p:sp>
      <p:sp>
        <p:nvSpPr>
          <p:cNvPr id="12" name="CuadroTexto 11">
            <a:extLst>
              <a:ext uri="{FF2B5EF4-FFF2-40B4-BE49-F238E27FC236}">
                <a16:creationId xmlns:a16="http://schemas.microsoft.com/office/drawing/2014/main" id="{B08A2A09-4CBE-4012-9871-343AB08ED225}"/>
              </a:ext>
            </a:extLst>
          </p:cNvPr>
          <p:cNvSpPr txBox="1"/>
          <p:nvPr/>
        </p:nvSpPr>
        <p:spPr>
          <a:xfrm>
            <a:off x="7509615" y="6492960"/>
            <a:ext cx="2381250" cy="261610"/>
          </a:xfrm>
          <a:prstGeom prst="rect">
            <a:avLst/>
          </a:prstGeom>
          <a:noFill/>
        </p:spPr>
        <p:txBody>
          <a:bodyPr wrap="square" rtlCol="0">
            <a:spAutoFit/>
          </a:bodyPr>
          <a:lstStyle/>
          <a:p>
            <a:r>
              <a:rPr lang="es-ES" sz="1100" dirty="0">
                <a:solidFill>
                  <a:schemeClr val="bg1"/>
                </a:solidFill>
              </a:rPr>
              <a:t>Distribución </a:t>
            </a:r>
            <a:r>
              <a:rPr lang="es-ES" sz="1100" dirty="0" err="1">
                <a:solidFill>
                  <a:schemeClr val="bg1"/>
                </a:solidFill>
              </a:rPr>
              <a:t>Heterocedástica</a:t>
            </a:r>
            <a:endParaRPr lang="es-ES" sz="11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dirty="0">
                <a:solidFill>
                  <a:srgbClr val="FF0000"/>
                </a:solidFill>
                <a:latin typeface="Calibri Light"/>
              </a:rPr>
              <a:t>Condiciones II</a:t>
            </a:r>
            <a:endParaRPr lang="es-ES" sz="4400" b="0" strike="noStrike" spc="-1" dirty="0">
              <a:latin typeface="Arial"/>
            </a:endParaRPr>
          </a:p>
        </p:txBody>
      </p:sp>
      <p:sp>
        <p:nvSpPr>
          <p:cNvPr id="88" name="CustomShape 3"/>
          <p:cNvSpPr/>
          <p:nvPr/>
        </p:nvSpPr>
        <p:spPr>
          <a:xfrm>
            <a:off x="875699" y="1577525"/>
            <a:ext cx="6011661" cy="162706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pPr marL="342900" indent="-342900">
              <a:lnSpc>
                <a:spcPct val="100000"/>
              </a:lnSpc>
              <a:buAutoNum type="arabicPeriod"/>
            </a:pPr>
            <a:r>
              <a:rPr lang="es-ES" sz="1800" b="0" strike="noStrike" spc="-1" dirty="0">
                <a:solidFill>
                  <a:schemeClr val="bg1"/>
                </a:solidFill>
                <a:latin typeface="Arial"/>
              </a:rPr>
              <a:t>Independencia de los residuos (errores)</a:t>
            </a:r>
          </a:p>
          <a:p>
            <a:pPr marL="342900" indent="-342900">
              <a:lnSpc>
                <a:spcPct val="100000"/>
              </a:lnSpc>
              <a:buAutoNum type="arabicPeriod"/>
            </a:pPr>
            <a:r>
              <a:rPr lang="es-ES" sz="1800" b="0" strike="noStrike" spc="-1" dirty="0">
                <a:solidFill>
                  <a:schemeClr val="bg1"/>
                </a:solidFill>
                <a:latin typeface="Arial"/>
              </a:rPr>
              <a:t>Normalidad de los residuos (errores)</a:t>
            </a:r>
          </a:p>
          <a:p>
            <a:pPr>
              <a:lnSpc>
                <a:spcPct val="100000"/>
              </a:lnSpc>
            </a:pPr>
            <a:endParaRPr lang="es-ES" sz="1800" b="0" strike="noStrike" spc="-1" dirty="0">
              <a:solidFill>
                <a:schemeClr val="bg1"/>
              </a:solidFill>
              <a:latin typeface="Arial"/>
            </a:endParaRPr>
          </a:p>
        </p:txBody>
      </p:sp>
      <p:pic>
        <p:nvPicPr>
          <p:cNvPr id="5" name="Imagen 4">
            <a:extLst>
              <a:ext uri="{FF2B5EF4-FFF2-40B4-BE49-F238E27FC236}">
                <a16:creationId xmlns:a16="http://schemas.microsoft.com/office/drawing/2014/main" id="{7D3746B3-926D-4D4C-85E4-1F351A96D043}"/>
              </a:ext>
            </a:extLst>
          </p:cNvPr>
          <p:cNvPicPr/>
          <p:nvPr/>
        </p:nvPicPr>
        <p:blipFill>
          <a:blip r:embed="rId3"/>
          <a:stretch/>
        </p:blipFill>
        <p:spPr>
          <a:xfrm>
            <a:off x="934400" y="3061981"/>
            <a:ext cx="2469009" cy="3018980"/>
          </a:xfrm>
          <a:prstGeom prst="rect">
            <a:avLst/>
          </a:prstGeom>
          <a:ln w="0">
            <a:noFill/>
          </a:ln>
        </p:spPr>
      </p:pic>
      <p:pic>
        <p:nvPicPr>
          <p:cNvPr id="6" name="Imagen 5">
            <a:extLst>
              <a:ext uri="{FF2B5EF4-FFF2-40B4-BE49-F238E27FC236}">
                <a16:creationId xmlns:a16="http://schemas.microsoft.com/office/drawing/2014/main" id="{4D6610EA-F0E5-4C3C-8269-F8E8295E264C}"/>
              </a:ext>
            </a:extLst>
          </p:cNvPr>
          <p:cNvPicPr/>
          <p:nvPr/>
        </p:nvPicPr>
        <p:blipFill>
          <a:blip r:embed="rId4"/>
          <a:stretch/>
        </p:blipFill>
        <p:spPr>
          <a:xfrm>
            <a:off x="3982074" y="3204594"/>
            <a:ext cx="4806519" cy="2858350"/>
          </a:xfrm>
          <a:prstGeom prst="rect">
            <a:avLst/>
          </a:prstGeom>
          <a:ln w="0">
            <a:noFill/>
          </a:ln>
        </p:spPr>
      </p:pic>
      <p:pic>
        <p:nvPicPr>
          <p:cNvPr id="7" name="Picture 2" descr="Gaussian or normal (bell curve) distribution. | Download Scientific Diagram">
            <a:extLst>
              <a:ext uri="{FF2B5EF4-FFF2-40B4-BE49-F238E27FC236}">
                <a16:creationId xmlns:a16="http://schemas.microsoft.com/office/drawing/2014/main" id="{A941E26E-E3A2-40CA-8F35-3809CB5BA9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5334" y="3842158"/>
            <a:ext cx="2940341" cy="2220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682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2233440" y="2430000"/>
            <a:ext cx="7724880" cy="199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s-ES" sz="4400" b="0" strike="noStrike" spc="-1">
                <a:solidFill>
                  <a:srgbClr val="FF0000"/>
                </a:solidFill>
                <a:latin typeface="Calibri Light"/>
              </a:rPr>
              <a:t>Evaluación del modelo</a:t>
            </a:r>
            <a:endParaRPr lang="es-ES" sz="44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1"/>
          <p:cNvSpPr/>
          <p:nvPr/>
        </p:nvSpPr>
        <p:spPr>
          <a:xfrm>
            <a:off x="838080" y="365040"/>
            <a:ext cx="572544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Regresión lineal: errores</a:t>
            </a:r>
            <a:endParaRPr lang="es-ES" sz="4400" b="0" strike="noStrike" spc="-1">
              <a:latin typeface="Arial"/>
            </a:endParaRPr>
          </a:p>
        </p:txBody>
      </p:sp>
      <p:sp>
        <p:nvSpPr>
          <p:cNvPr id="98" name="CustomShape 2"/>
          <p:cNvSpPr/>
          <p:nvPr/>
        </p:nvSpPr>
        <p:spPr>
          <a:xfrm>
            <a:off x="943920" y="1690560"/>
            <a:ext cx="5257080" cy="382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fontScale="85000" lnSpcReduction="10000"/>
          </a:bodyPr>
          <a:lstStyle/>
          <a:p>
            <a:pPr marL="228600" indent="-227880">
              <a:lnSpc>
                <a:spcPct val="90000"/>
              </a:lnSpc>
              <a:spcBef>
                <a:spcPts val="1001"/>
              </a:spcBef>
              <a:buClr>
                <a:srgbClr val="FFFFFF"/>
              </a:buClr>
              <a:buFont typeface="Arial"/>
              <a:buChar char="•"/>
            </a:pPr>
            <a:r>
              <a:rPr lang="en-US" sz="2000" b="0" strike="noStrike" spc="-1" dirty="0">
                <a:solidFill>
                  <a:srgbClr val="FFFFFF"/>
                </a:solidFill>
                <a:latin typeface="Calibri"/>
              </a:rPr>
              <a:t>Mean Absolute Error (MAE). </a:t>
            </a:r>
            <a:r>
              <a:rPr lang="en-US" sz="1600" spc="-1" dirty="0" err="1">
                <a:solidFill>
                  <a:srgbClr val="FFFFFF"/>
                </a:solidFill>
                <a:latin typeface="Calibri"/>
              </a:rPr>
              <a:t>Errores</a:t>
            </a:r>
            <a:r>
              <a:rPr lang="en-US" sz="1600" spc="-1" dirty="0">
                <a:solidFill>
                  <a:srgbClr val="FFFFFF"/>
                </a:solidFill>
                <a:latin typeface="Calibri"/>
              </a:rPr>
              <a:t> </a:t>
            </a:r>
            <a:r>
              <a:rPr lang="en-US" sz="1600" spc="-1" dirty="0" err="1">
                <a:solidFill>
                  <a:srgbClr val="FFFFFF"/>
                </a:solidFill>
                <a:latin typeface="Calibri"/>
              </a:rPr>
              <a:t>en</a:t>
            </a:r>
            <a:r>
              <a:rPr lang="en-US" sz="1600" spc="-1" dirty="0">
                <a:solidFill>
                  <a:srgbClr val="FFFFFF"/>
                </a:solidFill>
                <a:latin typeface="Calibri"/>
              </a:rPr>
              <a:t> </a:t>
            </a:r>
            <a:r>
              <a:rPr lang="en-US" sz="1600" spc="-1" dirty="0" err="1">
                <a:solidFill>
                  <a:srgbClr val="FFFFFF"/>
                </a:solidFill>
                <a:latin typeface="Calibri"/>
              </a:rPr>
              <a:t>unidades</a:t>
            </a:r>
            <a:r>
              <a:rPr lang="en-US" sz="1600" spc="-1" dirty="0">
                <a:solidFill>
                  <a:srgbClr val="FFFFFF"/>
                </a:solidFill>
                <a:latin typeface="Calibri"/>
              </a:rPr>
              <a:t> del target</a:t>
            </a:r>
            <a:endParaRPr lang="es-ES" sz="1600" b="0" strike="noStrike" spc="-1" dirty="0">
              <a:latin typeface="Arial"/>
            </a:endParaRPr>
          </a:p>
          <a:p>
            <a:pPr>
              <a:lnSpc>
                <a:spcPct val="90000"/>
              </a:lnSpc>
              <a:spcBef>
                <a:spcPts val="1001"/>
              </a:spcBef>
            </a:pPr>
            <a:endParaRPr lang="es-ES" sz="2000" b="0" strike="noStrike" spc="-1" dirty="0">
              <a:latin typeface="Arial"/>
            </a:endParaRPr>
          </a:p>
          <a:p>
            <a:pPr>
              <a:lnSpc>
                <a:spcPct val="90000"/>
              </a:lnSpc>
              <a:spcBef>
                <a:spcPts val="1001"/>
              </a:spcBef>
            </a:pPr>
            <a:endParaRPr lang="es-ES" sz="2000" b="0" strike="noStrike" spc="-1" dirty="0">
              <a:latin typeface="Arial"/>
            </a:endParaRPr>
          </a:p>
          <a:p>
            <a:pPr>
              <a:lnSpc>
                <a:spcPct val="90000"/>
              </a:lnSpc>
              <a:spcBef>
                <a:spcPts val="1001"/>
              </a:spcBef>
            </a:pPr>
            <a:endParaRPr lang="es-ES" sz="2000" b="0" strike="noStrike" spc="-1" dirty="0">
              <a:latin typeface="Arial"/>
            </a:endParaRPr>
          </a:p>
          <a:p>
            <a:pPr>
              <a:lnSpc>
                <a:spcPct val="90000"/>
              </a:lnSpc>
              <a:spcBef>
                <a:spcPts val="1001"/>
              </a:spcBef>
            </a:pPr>
            <a:endParaRPr lang="es-ES" sz="2000" b="0" strike="noStrike" spc="-1" dirty="0">
              <a:latin typeface="Arial"/>
            </a:endParaRPr>
          </a:p>
          <a:p>
            <a:pPr marL="228600" indent="-227880">
              <a:lnSpc>
                <a:spcPct val="90000"/>
              </a:lnSpc>
              <a:spcBef>
                <a:spcPts val="1001"/>
              </a:spcBef>
              <a:buClr>
                <a:srgbClr val="FFFFFF"/>
              </a:buClr>
              <a:buFont typeface="Arial"/>
              <a:buChar char="•"/>
            </a:pPr>
            <a:r>
              <a:rPr lang="en-US" sz="2000" b="0" strike="noStrike" spc="-1" dirty="0">
                <a:solidFill>
                  <a:srgbClr val="FFFFFF"/>
                </a:solidFill>
                <a:latin typeface="Calibri"/>
              </a:rPr>
              <a:t>Mean Squared Error (MSE). </a:t>
            </a:r>
            <a:r>
              <a:rPr lang="en-US" sz="2000" spc="-1" dirty="0">
                <a:solidFill>
                  <a:srgbClr val="FFFFFF"/>
                </a:solidFill>
                <a:latin typeface="Calibri"/>
              </a:rPr>
              <a:t>No se </a:t>
            </a:r>
            <a:r>
              <a:rPr lang="en-US" sz="2000" spc="-1" dirty="0" err="1">
                <a:solidFill>
                  <a:srgbClr val="FFFFFF"/>
                </a:solidFill>
                <a:latin typeface="Calibri"/>
              </a:rPr>
              <a:t>interpreta</a:t>
            </a:r>
            <a:r>
              <a:rPr lang="en-US" sz="2000" spc="-1" dirty="0">
                <a:solidFill>
                  <a:srgbClr val="FFFFFF"/>
                </a:solidFill>
                <a:latin typeface="Calibri"/>
              </a:rPr>
              <a:t> bien al </a:t>
            </a:r>
            <a:r>
              <a:rPr lang="en-US" sz="2000" spc="-1" dirty="0" err="1">
                <a:solidFill>
                  <a:srgbClr val="FFFFFF"/>
                </a:solidFill>
                <a:latin typeface="Calibri"/>
              </a:rPr>
              <a:t>ir</a:t>
            </a:r>
            <a:r>
              <a:rPr lang="en-US" sz="2000" spc="-1" dirty="0">
                <a:solidFill>
                  <a:srgbClr val="FFFFFF"/>
                </a:solidFill>
                <a:latin typeface="Calibri"/>
              </a:rPr>
              <a:t> al </a:t>
            </a:r>
            <a:r>
              <a:rPr lang="en-US" sz="2000" spc="-1" dirty="0" err="1">
                <a:solidFill>
                  <a:srgbClr val="FFFFFF"/>
                </a:solidFill>
                <a:latin typeface="Calibri"/>
              </a:rPr>
              <a:t>cuadrado</a:t>
            </a:r>
            <a:r>
              <a:rPr lang="en-US" sz="2000" spc="-1" dirty="0">
                <a:solidFill>
                  <a:srgbClr val="FFFFFF"/>
                </a:solidFill>
                <a:latin typeface="Calibri"/>
              </a:rPr>
              <a:t>, </a:t>
            </a:r>
            <a:r>
              <a:rPr lang="en-US" sz="2000" spc="-1" dirty="0" err="1">
                <a:solidFill>
                  <a:srgbClr val="FFFFFF"/>
                </a:solidFill>
                <a:latin typeface="Calibri"/>
              </a:rPr>
              <a:t>pero</a:t>
            </a:r>
            <a:r>
              <a:rPr lang="en-US" sz="2000" spc="-1" dirty="0">
                <a:solidFill>
                  <a:srgbClr val="FFFFFF"/>
                </a:solidFill>
                <a:latin typeface="Calibri"/>
              </a:rPr>
              <a:t> </a:t>
            </a:r>
            <a:r>
              <a:rPr lang="en-US" sz="2000" spc="-1" dirty="0" err="1">
                <a:solidFill>
                  <a:srgbClr val="FFFFFF"/>
                </a:solidFill>
                <a:latin typeface="Calibri"/>
              </a:rPr>
              <a:t>enfatiza</a:t>
            </a:r>
            <a:r>
              <a:rPr lang="en-US" sz="2000" spc="-1" dirty="0">
                <a:solidFill>
                  <a:srgbClr val="FFFFFF"/>
                </a:solidFill>
                <a:latin typeface="Calibri"/>
              </a:rPr>
              <a:t> </a:t>
            </a:r>
            <a:r>
              <a:rPr lang="en-US" sz="2000" spc="-1" dirty="0" err="1">
                <a:solidFill>
                  <a:srgbClr val="FFFFFF"/>
                </a:solidFill>
                <a:latin typeface="Calibri"/>
              </a:rPr>
              <a:t>mucho</a:t>
            </a:r>
            <a:r>
              <a:rPr lang="en-US" sz="2000" spc="-1" dirty="0">
                <a:solidFill>
                  <a:srgbClr val="FFFFFF"/>
                </a:solidFill>
                <a:latin typeface="Calibri"/>
              </a:rPr>
              <a:t> </a:t>
            </a:r>
            <a:r>
              <a:rPr lang="en-US" sz="2000" spc="-1" dirty="0" err="1">
                <a:solidFill>
                  <a:srgbClr val="FFFFFF"/>
                </a:solidFill>
                <a:latin typeface="Calibri"/>
              </a:rPr>
              <a:t>más</a:t>
            </a:r>
            <a:r>
              <a:rPr lang="en-US" sz="2000" spc="-1" dirty="0">
                <a:solidFill>
                  <a:srgbClr val="FFFFFF"/>
                </a:solidFill>
                <a:latin typeface="Calibri"/>
              </a:rPr>
              <a:t> los </a:t>
            </a:r>
            <a:r>
              <a:rPr lang="en-US" sz="2000" spc="-1" dirty="0" err="1">
                <a:solidFill>
                  <a:srgbClr val="FFFFFF"/>
                </a:solidFill>
                <a:latin typeface="Calibri"/>
              </a:rPr>
              <a:t>errores</a:t>
            </a:r>
            <a:r>
              <a:rPr lang="en-US" sz="2000" spc="-1" dirty="0">
                <a:solidFill>
                  <a:srgbClr val="FFFFFF"/>
                </a:solidFill>
                <a:latin typeface="Calibri"/>
              </a:rPr>
              <a:t> altos</a:t>
            </a:r>
            <a:endParaRPr lang="es-ES" sz="2000" b="0" strike="noStrike" spc="-1" dirty="0">
              <a:latin typeface="Arial"/>
            </a:endParaRPr>
          </a:p>
          <a:p>
            <a:pPr>
              <a:lnSpc>
                <a:spcPct val="90000"/>
              </a:lnSpc>
              <a:spcBef>
                <a:spcPts val="1001"/>
              </a:spcBef>
            </a:pPr>
            <a:endParaRPr lang="es-ES" sz="2000" b="0" strike="noStrike" spc="-1" dirty="0">
              <a:latin typeface="Arial"/>
            </a:endParaRPr>
          </a:p>
          <a:p>
            <a:pPr>
              <a:lnSpc>
                <a:spcPct val="90000"/>
              </a:lnSpc>
              <a:spcBef>
                <a:spcPts val="1001"/>
              </a:spcBef>
            </a:pPr>
            <a:endParaRPr lang="es-ES" sz="2000" b="0" strike="noStrike" spc="-1" dirty="0">
              <a:latin typeface="Arial"/>
            </a:endParaRPr>
          </a:p>
          <a:p>
            <a:pPr>
              <a:lnSpc>
                <a:spcPct val="90000"/>
              </a:lnSpc>
              <a:spcBef>
                <a:spcPts val="1001"/>
              </a:spcBef>
            </a:pPr>
            <a:endParaRPr lang="es-ES" sz="2000" b="0" strike="noStrike" spc="-1" dirty="0">
              <a:latin typeface="Arial"/>
            </a:endParaRPr>
          </a:p>
          <a:p>
            <a:pPr marL="228600" indent="-227880">
              <a:lnSpc>
                <a:spcPct val="90000"/>
              </a:lnSpc>
              <a:spcBef>
                <a:spcPts val="1001"/>
              </a:spcBef>
              <a:buClr>
                <a:srgbClr val="FFFFFF"/>
              </a:buClr>
              <a:buFont typeface="Arial"/>
              <a:buChar char="•"/>
            </a:pPr>
            <a:r>
              <a:rPr lang="en-US" sz="2000" b="0" strike="noStrike" spc="-1" dirty="0">
                <a:solidFill>
                  <a:srgbClr val="FFFFFF"/>
                </a:solidFill>
                <a:latin typeface="Calibri"/>
              </a:rPr>
              <a:t>Root Mean Squared Error (RMSE)</a:t>
            </a:r>
            <a:endParaRPr lang="es-ES" sz="2000" b="0" strike="noStrike" spc="-1" dirty="0">
              <a:latin typeface="Arial"/>
            </a:endParaRPr>
          </a:p>
        </p:txBody>
      </p:sp>
      <p:pic>
        <p:nvPicPr>
          <p:cNvPr id="99" name="Picture 5"/>
          <p:cNvPicPr/>
          <p:nvPr/>
        </p:nvPicPr>
        <p:blipFill>
          <a:blip r:embed="rId3"/>
          <a:stretch/>
        </p:blipFill>
        <p:spPr>
          <a:xfrm>
            <a:off x="7313040" y="2565360"/>
            <a:ext cx="4207320" cy="2635560"/>
          </a:xfrm>
          <a:prstGeom prst="rect">
            <a:avLst/>
          </a:prstGeom>
          <a:ln w="0">
            <a:noFill/>
          </a:ln>
        </p:spPr>
      </p:pic>
      <p:pic>
        <p:nvPicPr>
          <p:cNvPr id="100" name="Picture 4"/>
          <p:cNvPicPr/>
          <p:nvPr/>
        </p:nvPicPr>
        <p:blipFill>
          <a:blip r:embed="rId4"/>
          <a:stretch/>
        </p:blipFill>
        <p:spPr>
          <a:xfrm>
            <a:off x="2055240" y="2283120"/>
            <a:ext cx="2599920" cy="808920"/>
          </a:xfrm>
          <a:prstGeom prst="rect">
            <a:avLst/>
          </a:prstGeom>
          <a:ln w="0">
            <a:noFill/>
          </a:ln>
        </p:spPr>
      </p:pic>
      <p:pic>
        <p:nvPicPr>
          <p:cNvPr id="101" name="Picture 6"/>
          <p:cNvPicPr/>
          <p:nvPr/>
        </p:nvPicPr>
        <p:blipFill>
          <a:blip r:embed="rId5"/>
          <a:stretch/>
        </p:blipFill>
        <p:spPr>
          <a:xfrm>
            <a:off x="2055240" y="3883140"/>
            <a:ext cx="2781000" cy="837720"/>
          </a:xfrm>
          <a:prstGeom prst="rect">
            <a:avLst/>
          </a:prstGeom>
          <a:ln w="0">
            <a:noFill/>
          </a:ln>
        </p:spPr>
      </p:pic>
      <p:pic>
        <p:nvPicPr>
          <p:cNvPr id="102" name="Picture 9"/>
          <p:cNvPicPr/>
          <p:nvPr/>
        </p:nvPicPr>
        <p:blipFill>
          <a:blip r:embed="rId6"/>
          <a:stretch/>
        </p:blipFill>
        <p:spPr>
          <a:xfrm>
            <a:off x="2055240" y="5465337"/>
            <a:ext cx="2877487" cy="837721"/>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838080" y="365040"/>
            <a:ext cx="1051488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a:solidFill>
                  <a:srgbClr val="FF0000"/>
                </a:solidFill>
                <a:latin typeface="Calibri Light"/>
              </a:rPr>
              <a:t>R-Squared</a:t>
            </a:r>
            <a:endParaRPr lang="es-ES" sz="4400" b="0" strike="noStrike" spc="-1">
              <a:latin typeface="Arial"/>
            </a:endParaRPr>
          </a:p>
        </p:txBody>
      </p:sp>
      <p:pic>
        <p:nvPicPr>
          <p:cNvPr id="90" name="Imagen 89"/>
          <p:cNvPicPr/>
          <p:nvPr/>
        </p:nvPicPr>
        <p:blipFill>
          <a:blip r:embed="rId3"/>
          <a:stretch/>
        </p:blipFill>
        <p:spPr>
          <a:xfrm>
            <a:off x="3291840" y="2696400"/>
            <a:ext cx="5029200" cy="3739600"/>
          </a:xfrm>
          <a:prstGeom prst="rect">
            <a:avLst/>
          </a:prstGeom>
          <a:ln w="0">
            <a:noFill/>
          </a:ln>
        </p:spPr>
      </p:pic>
      <p:sp>
        <p:nvSpPr>
          <p:cNvPr id="2" name="CuadroTexto 1">
            <a:extLst>
              <a:ext uri="{FF2B5EF4-FFF2-40B4-BE49-F238E27FC236}">
                <a16:creationId xmlns:a16="http://schemas.microsoft.com/office/drawing/2014/main" id="{37906F72-C134-42B8-8805-F3A1A644342C}"/>
              </a:ext>
            </a:extLst>
          </p:cNvPr>
          <p:cNvSpPr txBox="1"/>
          <p:nvPr/>
        </p:nvSpPr>
        <p:spPr>
          <a:xfrm>
            <a:off x="838080" y="1371600"/>
            <a:ext cx="9824720" cy="1200329"/>
          </a:xfrm>
          <a:prstGeom prst="rect">
            <a:avLst/>
          </a:prstGeom>
          <a:noFill/>
        </p:spPr>
        <p:txBody>
          <a:bodyPr wrap="square" rtlCol="0">
            <a:spAutoFit/>
          </a:bodyPr>
          <a:lstStyle/>
          <a:p>
            <a:r>
              <a:rPr lang="es-ES" sz="1800" dirty="0">
                <a:solidFill>
                  <a:schemeClr val="bg1"/>
                </a:solidFill>
                <a:effectLst/>
                <a:latin typeface="Calibri" panose="020F0502020204030204" pitchFamily="34" charset="0"/>
              </a:rPr>
              <a:t>Coeficiente de determinación. Mide cuánto de bien </a:t>
            </a:r>
            <a:r>
              <a:rPr lang="es-ES" dirty="0">
                <a:solidFill>
                  <a:schemeClr val="bg1"/>
                </a:solidFill>
                <a:latin typeface="Calibri" panose="020F0502020204030204" pitchFamily="34" charset="0"/>
              </a:rPr>
              <a:t>una regresión se ajusta a los datos.</a:t>
            </a:r>
            <a:r>
              <a:rPr lang="es-ES" sz="1800" dirty="0">
                <a:solidFill>
                  <a:schemeClr val="bg1"/>
                </a:solidFill>
                <a:effectLst/>
                <a:latin typeface="Calibri" panose="020F0502020204030204" pitchFamily="34" charset="0"/>
              </a:rPr>
              <a:t> También se define como la porción de variación de la variable dependiente (y) predecible mediante la independiente (x). Va de [0,1]. Cuanto mejor se ajuste, más se acercará a 1. Cuanto más cercano a 0, menos fiable será.</a:t>
            </a:r>
            <a:endParaRPr lang="es-ES"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1"/>
          <p:cNvSpPr/>
          <p:nvPr/>
        </p:nvSpPr>
        <p:spPr>
          <a:xfrm>
            <a:off x="838080" y="365040"/>
            <a:ext cx="572544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s-ES" sz="4400" b="0" strike="noStrike" spc="-1" dirty="0">
                <a:solidFill>
                  <a:srgbClr val="FF0000"/>
                </a:solidFill>
                <a:latin typeface="Calibri Light"/>
              </a:rPr>
              <a:t>Bibliografía</a:t>
            </a:r>
            <a:endParaRPr lang="es-ES" sz="4400" b="0" strike="noStrike" spc="-1" dirty="0">
              <a:latin typeface="Arial"/>
            </a:endParaRPr>
          </a:p>
        </p:txBody>
      </p:sp>
      <p:sp>
        <p:nvSpPr>
          <p:cNvPr id="98" name="CustomShape 2"/>
          <p:cNvSpPr/>
          <p:nvPr/>
        </p:nvSpPr>
        <p:spPr>
          <a:xfrm>
            <a:off x="943919" y="1690560"/>
            <a:ext cx="10548997" cy="382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marL="720">
              <a:lnSpc>
                <a:spcPct val="90000"/>
              </a:lnSpc>
              <a:spcBef>
                <a:spcPts val="1001"/>
              </a:spcBef>
              <a:buClr>
                <a:srgbClr val="FFFFFF"/>
              </a:buClr>
            </a:pPr>
            <a:r>
              <a:rPr lang="en-US" sz="1600" spc="-1" dirty="0">
                <a:solidFill>
                  <a:srgbClr val="FFFFFF"/>
                </a:solidFill>
                <a:latin typeface="Calibri"/>
                <a:hlinkClick r:id="rId3"/>
              </a:rPr>
              <a:t>https://learning.oreilly.com/library/view/hands-on-machine-learning/9781492032632/</a:t>
            </a:r>
            <a:endParaRPr lang="en-US" sz="1600" spc="-1" dirty="0">
              <a:solidFill>
                <a:srgbClr val="FFFFFF"/>
              </a:solidFill>
              <a:latin typeface="Calibri"/>
            </a:endParaRPr>
          </a:p>
          <a:p>
            <a:pPr marL="720">
              <a:lnSpc>
                <a:spcPct val="90000"/>
              </a:lnSpc>
              <a:spcBef>
                <a:spcPts val="1001"/>
              </a:spcBef>
              <a:buClr>
                <a:srgbClr val="FFFFFF"/>
              </a:buClr>
            </a:pPr>
            <a:endParaRPr lang="en-US" sz="1600" b="0" strike="noStrike" spc="-1" dirty="0">
              <a:solidFill>
                <a:srgbClr val="FFFFFF"/>
              </a:solidFill>
              <a:latin typeface="Calibri"/>
            </a:endParaRPr>
          </a:p>
          <a:p>
            <a:pPr marL="720">
              <a:lnSpc>
                <a:spcPct val="90000"/>
              </a:lnSpc>
              <a:spcBef>
                <a:spcPts val="1001"/>
              </a:spcBef>
              <a:buClr>
                <a:srgbClr val="FFFFFF"/>
              </a:buClr>
            </a:pPr>
            <a:r>
              <a:rPr lang="es-ES" sz="1600" b="0" strike="noStrike" spc="-1" dirty="0">
                <a:latin typeface="Arial"/>
                <a:hlinkClick r:id="rId4"/>
              </a:rPr>
              <a:t>https://www.cienciadedatos.net/documentos/py10-regresion-lineal-python.html</a:t>
            </a:r>
            <a:endParaRPr lang="es-ES" sz="1600" b="0" strike="noStrike" spc="-1" dirty="0">
              <a:latin typeface="Arial"/>
            </a:endParaRPr>
          </a:p>
          <a:p>
            <a:pPr marL="720">
              <a:lnSpc>
                <a:spcPct val="90000"/>
              </a:lnSpc>
              <a:spcBef>
                <a:spcPts val="1001"/>
              </a:spcBef>
              <a:buClr>
                <a:srgbClr val="FFFFFF"/>
              </a:buClr>
            </a:pPr>
            <a:endParaRPr lang="es-ES" sz="1600" spc="-1" dirty="0">
              <a:latin typeface="Arial"/>
            </a:endParaRPr>
          </a:p>
          <a:p>
            <a:pPr marL="720">
              <a:lnSpc>
                <a:spcPct val="90000"/>
              </a:lnSpc>
              <a:spcBef>
                <a:spcPts val="1001"/>
              </a:spcBef>
              <a:buClr>
                <a:srgbClr val="FFFFFF"/>
              </a:buClr>
            </a:pPr>
            <a:r>
              <a:rPr lang="es-ES" sz="1800" dirty="0">
                <a:effectLst/>
                <a:latin typeface="Calibri" panose="020F0502020204030204" pitchFamily="34" charset="0"/>
                <a:hlinkClick r:id="rId5"/>
              </a:rPr>
              <a:t>https://machinelearningmastery.com/gradient-descent-for-machine-learning/</a:t>
            </a:r>
            <a:endParaRPr lang="es-ES" sz="1600" spc="-1" dirty="0">
              <a:effectLst/>
              <a:latin typeface="Arial"/>
            </a:endParaRPr>
          </a:p>
          <a:p>
            <a:pPr marL="720">
              <a:lnSpc>
                <a:spcPct val="90000"/>
              </a:lnSpc>
              <a:spcBef>
                <a:spcPts val="1001"/>
              </a:spcBef>
              <a:buClr>
                <a:srgbClr val="FFFFFF"/>
              </a:buClr>
            </a:pPr>
            <a:endParaRPr lang="es-ES" sz="1600" b="0" strike="noStrike" spc="-1" dirty="0">
              <a:latin typeface="Arial"/>
            </a:endParaRPr>
          </a:p>
          <a:p>
            <a:pPr marL="720">
              <a:lnSpc>
                <a:spcPct val="90000"/>
              </a:lnSpc>
              <a:spcBef>
                <a:spcPts val="1001"/>
              </a:spcBef>
              <a:buClr>
                <a:srgbClr val="FFFFFF"/>
              </a:buClr>
            </a:pPr>
            <a:r>
              <a:rPr lang="es-ES" sz="1800" dirty="0">
                <a:effectLst/>
                <a:latin typeface="Calibri" panose="020F0502020204030204" pitchFamily="34" charset="0"/>
                <a:hlinkClick r:id="rId6"/>
              </a:rPr>
              <a:t>https://towardsdatascience.com/gradient-descent-animation-1-simple-linear-regression-e49315b24672</a:t>
            </a:r>
            <a:endParaRPr lang="es-ES" sz="1600" spc="-1" dirty="0">
              <a:effectLst/>
              <a:latin typeface="Arial"/>
            </a:endParaRPr>
          </a:p>
          <a:p>
            <a:pPr marL="720">
              <a:lnSpc>
                <a:spcPct val="90000"/>
              </a:lnSpc>
              <a:spcBef>
                <a:spcPts val="1001"/>
              </a:spcBef>
              <a:buClr>
                <a:srgbClr val="FFFFFF"/>
              </a:buClr>
            </a:pPr>
            <a:endParaRPr lang="es-ES" sz="1600" b="0" strike="noStrike" spc="-1" dirty="0">
              <a:latin typeface="Arial"/>
            </a:endParaRPr>
          </a:p>
        </p:txBody>
      </p:sp>
    </p:spTree>
    <p:extLst>
      <p:ext uri="{BB962C8B-B14F-4D97-AF65-F5344CB8AC3E}">
        <p14:creationId xmlns:p14="http://schemas.microsoft.com/office/powerpoint/2010/main" val="2435896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f8505da-c265-4c9b-8f79-5eb1c5d317b9}" enabled="1" method="Standard" siteId="{b984e578-dd3f-4fcd-afea-1c381ab634f3}" contentBits="0" removed="0"/>
</clbl:labelList>
</file>

<file path=docProps/app.xml><?xml version="1.0" encoding="utf-8"?>
<Properties xmlns="http://schemas.openxmlformats.org/officeDocument/2006/extended-properties" xmlns:vt="http://schemas.openxmlformats.org/officeDocument/2006/docPropsVTypes">
  <Template/>
  <TotalTime>11315</TotalTime>
  <Words>1313</Words>
  <Application>Microsoft Office PowerPoint</Application>
  <PresentationFormat>Panorámica</PresentationFormat>
  <Paragraphs>157</Paragraphs>
  <Slides>24</Slides>
  <Notes>24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Arial</vt:lpstr>
      <vt:lpstr>Calibri</vt:lpstr>
      <vt:lpstr>Calibri Light</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Regresión Lineal</dc:title>
  <dc:subject/>
  <dc:creator>Gabriel VT</dc:creator>
  <dc:description/>
  <cp:lastModifiedBy>Santiago, Jon</cp:lastModifiedBy>
  <cp:revision>30</cp:revision>
  <dcterms:created xsi:type="dcterms:W3CDTF">2020-08-31T20:14:59Z</dcterms:created>
  <dcterms:modified xsi:type="dcterms:W3CDTF">2026-04-17T11:46:16Z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9</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