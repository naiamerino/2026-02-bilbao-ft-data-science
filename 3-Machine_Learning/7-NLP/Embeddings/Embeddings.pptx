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BA339A-5171-4156-B59D-D02AC52A22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2AC7E3-6DB7-4DC3-86C4-FC564520B8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FBD3C28-3591-4A8E-A384-328A466899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41165F2-73A7-488D-BFF1-3CA83413FF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B5F0104-7EFF-42A2-BE22-CF4FD452A7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168C7A1-3553-4321-AEC3-06994FEAC6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B1807FC-3E46-43A8-A039-A06887D818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92417B8-55D2-4465-8A41-0D7E2CD551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EFCE9BA-594B-4FF0-B0B3-A711BFF78D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F8255CD-D4FA-420D-A0A7-E32968F080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8230642-7F0B-4C96-AC79-21039CBF81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Pulse para editar el formato </a:t>
            </a: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del texto de título</a:t>
            </a:r>
            <a:endParaRPr b="0" lang="es-E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1E93A3-14C8-4675-960B-EF56249A45FB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</a:t>
            </a: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editar 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del texto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55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C2402C-F637-4725-8FA1-EAAFE476A54F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editar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format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o del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texto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C9592A-032C-4A2A-8CC7-61239ECF6C6E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se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par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edi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tar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del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tex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títu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565CCD-F554-4488-9771-50F61F5E0591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s-ES" sz="60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37485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6951A9-01EE-4199-AE31-89758A5E93D8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2DE8DC-4376-4A8F-B78F-25A9C75A6A19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249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249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61BC15-6371-4175-B514-989707425DEE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A8CD24-9260-4388-856C-40BCFB90D473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9288B0-3D0E-44E1-B075-368473E7FDD2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198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6E7E6E-2CD6-4175-8B0B-0265A2764C92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198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ES" sz="16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ffffff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ES" sz="1200" spc="-1" strike="noStrike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80970A-CAB8-4244-B962-A7B7A0FDFC1E}" type="slidenum">
              <a:rPr b="0" lang="es-ES" sz="1200" spc="-1" strike="noStrike">
                <a:solidFill>
                  <a:schemeClr val="lt1"/>
                </a:solidFill>
                <a:latin typeface="Calibri"/>
                <a:ea typeface="Calibri"/>
              </a:rPr>
              <a:t>&lt;número&gt;</a:t>
            </a:fld>
            <a:endParaRPr b="0" lang="es-ES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learning.oreilly.com/library/view/ai-and-machine/9781492078180/ch06.html" TargetMode="External"/><Relationship Id="rId2" Type="http://schemas.openxmlformats.org/officeDocument/2006/relationships/hyperlink" Target="https://medium.com/@kadircanercetin/intuitive-understanding-of-word-embeddings-with-keras-6435fe92a57b" TargetMode="External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447200"/>
            <a:ext cx="9143640" cy="213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pc="-1" strike="noStrike">
                <a:solidFill>
                  <a:schemeClr val="lt1"/>
                </a:solidFill>
                <a:latin typeface="Calibri"/>
                <a:ea typeface="Calibri"/>
              </a:rPr>
              <a:t>Machine Learning</a:t>
            </a:r>
            <a:br>
              <a:rPr sz="6000"/>
            </a:br>
            <a:r>
              <a:rPr b="0" lang="es-ES" sz="4000" spc="-1" strike="noStrike">
                <a:solidFill>
                  <a:srgbClr val="ff0000"/>
                </a:solidFill>
                <a:latin typeface="Calibri"/>
                <a:ea typeface="Calibri"/>
              </a:rPr>
              <a:t>Embeddings</a:t>
            </a:r>
            <a:endParaRPr b="0" lang="es-E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420264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chemeClr val="lt1"/>
                </a:solidFill>
                <a:latin typeface="Calibri"/>
                <a:ea typeface="Calibri"/>
              </a:rPr>
              <a:t>Data Science Bootcamp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chemeClr val="lt1"/>
                </a:solidFill>
                <a:latin typeface="Calibri"/>
                <a:ea typeface="Calibri"/>
              </a:rPr>
              <a:t>The Bridge</a:t>
            </a:r>
            <a:endParaRPr b="0" lang="es-E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" name="Google Shape;90;p1" descr="Events organizados por The Bridge | Digital Talent Accelerator | Eventbrite"/>
          <p:cNvPicPr/>
          <p:nvPr/>
        </p:nvPicPr>
        <p:blipFill>
          <a:blip r:embed="rId1"/>
          <a:stretch/>
        </p:blipFill>
        <p:spPr>
          <a:xfrm>
            <a:off x="10630080" y="5505480"/>
            <a:ext cx="823680" cy="82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006640" y="1890720"/>
            <a:ext cx="8178480" cy="307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Definición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Deep Learning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Entrenamiento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73" name="Picture 2" descr="How Neural Networks process input data | by Sunil Sandhu | Artificial  Intelligence in Plain English"/>
          <p:cNvPicPr/>
          <p:nvPr/>
        </p:nvPicPr>
        <p:blipFill>
          <a:blip r:embed="rId1"/>
          <a:stretch/>
        </p:blipFill>
        <p:spPr>
          <a:xfrm>
            <a:off x="3161880" y="2061360"/>
            <a:ext cx="5625360" cy="3295800"/>
          </a:xfrm>
          <a:prstGeom prst="rect">
            <a:avLst/>
          </a:prstGeom>
          <a:ln w="0">
            <a:noFill/>
          </a:ln>
        </p:spPr>
      </p:pic>
      <p:sp>
        <p:nvSpPr>
          <p:cNvPr id="74" name="CuadroTexto 1"/>
          <p:cNvSpPr/>
          <p:nvPr/>
        </p:nvSpPr>
        <p:spPr>
          <a:xfrm>
            <a:off x="1055160" y="3017160"/>
            <a:ext cx="1901160" cy="15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“</a:t>
            </a: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La peor película que he visto nunca”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“</a:t>
            </a: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Muy buen argumento”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“</a:t>
            </a: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No la recomendaría”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CuadroTexto 7"/>
          <p:cNvSpPr/>
          <p:nvPr/>
        </p:nvSpPr>
        <p:spPr>
          <a:xfrm>
            <a:off x="1878840" y="5784480"/>
            <a:ext cx="8433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El modelo no puede procesar texto, por lo que tenemos que traducir a números: CODIFICAR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CuadroTexto 8"/>
          <p:cNvSpPr/>
          <p:nvPr/>
        </p:nvSpPr>
        <p:spPr>
          <a:xfrm>
            <a:off x="9362520" y="3100680"/>
            <a:ext cx="19011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Output Reviews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Buena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Mala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Codificar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Caracteres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80" name="Picture 2" descr="Informatika na Gymnáziu a Jazykové škole s právem státní jazykové zkoušky  Zlín"/>
          <p:cNvPicPr/>
          <p:nvPr/>
        </p:nvPicPr>
        <p:blipFill>
          <a:blip r:embed="rId1"/>
          <a:stretch/>
        </p:blipFill>
        <p:spPr>
          <a:xfrm>
            <a:off x="3004920" y="2029680"/>
            <a:ext cx="6399360" cy="3458880"/>
          </a:xfrm>
          <a:prstGeom prst="rect">
            <a:avLst/>
          </a:prstGeom>
          <a:ln w="0">
            <a:noFill/>
          </a:ln>
        </p:spPr>
      </p:pic>
      <p:sp>
        <p:nvSpPr>
          <p:cNvPr id="81" name="CuadroTexto 7"/>
          <p:cNvSpPr/>
          <p:nvPr/>
        </p:nvSpPr>
        <p:spPr>
          <a:xfrm>
            <a:off x="1987560" y="5859000"/>
            <a:ext cx="8433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Lo que tenemos que codificar son palabras, no caracteres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Tokenizar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Palabras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85" name="Imagen 8" descr=""/>
          <p:cNvPicPr/>
          <p:nvPr/>
        </p:nvPicPr>
        <p:blipFill>
          <a:blip r:embed="rId1"/>
          <a:stretch/>
        </p:blipFill>
        <p:spPr>
          <a:xfrm>
            <a:off x="2389680" y="1836000"/>
            <a:ext cx="7169400" cy="1996560"/>
          </a:xfrm>
          <a:prstGeom prst="rect">
            <a:avLst/>
          </a:prstGeom>
          <a:ln w="0">
            <a:noFill/>
          </a:ln>
        </p:spPr>
      </p:pic>
      <p:sp>
        <p:nvSpPr>
          <p:cNvPr id="86" name="Flecha: a la derecha 9"/>
          <p:cNvSpPr/>
          <p:nvPr/>
        </p:nvSpPr>
        <p:spPr>
          <a:xfrm rot="5400000">
            <a:off x="5212080" y="4419360"/>
            <a:ext cx="131040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7" name="CuadroTexto 14"/>
          <p:cNvSpPr/>
          <p:nvPr/>
        </p:nvSpPr>
        <p:spPr>
          <a:xfrm>
            <a:off x="6304320" y="4116600"/>
            <a:ext cx="19011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Ya podemos transformar frases a secuencias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" name="Imagen 11" descr=""/>
          <p:cNvPicPr/>
          <p:nvPr/>
        </p:nvPicPr>
        <p:blipFill>
          <a:blip r:embed="rId2"/>
          <a:stretch/>
        </p:blipFill>
        <p:spPr>
          <a:xfrm>
            <a:off x="2548080" y="5574960"/>
            <a:ext cx="6638400" cy="694800"/>
          </a:xfrm>
          <a:prstGeom prst="rect">
            <a:avLst/>
          </a:prstGeom>
          <a:ln w="0">
            <a:noFill/>
          </a:ln>
        </p:spPr>
      </p:pic>
      <p:sp>
        <p:nvSpPr>
          <p:cNvPr id="89" name="CuadroTexto 17"/>
          <p:cNvSpPr/>
          <p:nvPr/>
        </p:nvSpPr>
        <p:spPr>
          <a:xfrm>
            <a:off x="9559800" y="5511240"/>
            <a:ext cx="19011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YA PODEMOS ENTRENAR UN MODELO!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CuadroTexto 18"/>
          <p:cNvSpPr/>
          <p:nvPr/>
        </p:nvSpPr>
        <p:spPr>
          <a:xfrm>
            <a:off x="497520" y="4120560"/>
            <a:ext cx="330300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Comodin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OOV – Out of Vocabulary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Todas las palabras que no encuentre, serán una nueva palabra en el vocabulario: “OOV”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Padding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93" name="CuadroTexto 1"/>
          <p:cNvSpPr/>
          <p:nvPr/>
        </p:nvSpPr>
        <p:spPr>
          <a:xfrm>
            <a:off x="843120" y="1981080"/>
            <a:ext cx="98550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Para entrenar un algoritmo de ML siempre tendremos que establecer unos inputs con el mismo número de dimensiones.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No puede ser que cada frase mida diferente.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Esto se soluciona rellenando con 0s mediante la técnica “padding”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" name="Imagen 8" descr=""/>
          <p:cNvPicPr/>
          <p:nvPr/>
        </p:nvPicPr>
        <p:blipFill>
          <a:blip r:embed="rId1"/>
          <a:stretch/>
        </p:blipFill>
        <p:spPr>
          <a:xfrm>
            <a:off x="946800" y="3249360"/>
            <a:ext cx="4157640" cy="1472040"/>
          </a:xfrm>
          <a:prstGeom prst="rect">
            <a:avLst/>
          </a:prstGeom>
          <a:ln w="0">
            <a:noFill/>
          </a:ln>
        </p:spPr>
      </p:pic>
      <p:sp>
        <p:nvSpPr>
          <p:cNvPr id="95" name="Flecha: a la derecha 9"/>
          <p:cNvSpPr/>
          <p:nvPr/>
        </p:nvSpPr>
        <p:spPr>
          <a:xfrm>
            <a:off x="5435640" y="3840480"/>
            <a:ext cx="1137600" cy="416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96" name="Imagen 11" descr=""/>
          <p:cNvPicPr/>
          <p:nvPr/>
        </p:nvPicPr>
        <p:blipFill>
          <a:blip r:embed="rId2"/>
          <a:stretch/>
        </p:blipFill>
        <p:spPr>
          <a:xfrm>
            <a:off x="7341120" y="3249360"/>
            <a:ext cx="2795400" cy="1457640"/>
          </a:xfrm>
          <a:prstGeom prst="rect">
            <a:avLst/>
          </a:prstGeom>
          <a:ln w="0">
            <a:noFill/>
          </a:ln>
        </p:spPr>
      </p:pic>
      <p:pic>
        <p:nvPicPr>
          <p:cNvPr id="97" name="Imagen 14" descr=""/>
          <p:cNvPicPr/>
          <p:nvPr/>
        </p:nvPicPr>
        <p:blipFill>
          <a:blip r:embed="rId3"/>
          <a:stretch/>
        </p:blipFill>
        <p:spPr>
          <a:xfrm>
            <a:off x="6957720" y="4961880"/>
            <a:ext cx="3561840" cy="148572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Dimensiones homogeneas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Orden vectores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716760" y="1283040"/>
            <a:ext cx="5487480" cy="4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s-ES" sz="1800" spc="-1" strike="noStrike">
                <a:solidFill>
                  <a:srgbClr val="d8d8d8"/>
                </a:solidFill>
                <a:latin typeface="Calibri"/>
                <a:ea typeface="Calibri"/>
              </a:rPr>
              <a:t>Relativo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02" name="CuadroTexto 1"/>
          <p:cNvSpPr/>
          <p:nvPr/>
        </p:nvSpPr>
        <p:spPr>
          <a:xfrm>
            <a:off x="843120" y="1981080"/>
            <a:ext cx="5618160" cy="24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“</a:t>
            </a: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Me llevaré a la playa una sombrilla, bañador y quizás unas cartas. Cerveza ya compro en el chiringuito”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Eliminando stopwords…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playa: 1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sombrilla: 2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bañador: 3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cartas: 4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cerveza: 5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chiringuito: 6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3" name="Conector recto 3"/>
          <p:cNvCxnSpPr/>
          <p:nvPr/>
        </p:nvCxnSpPr>
        <p:spPr>
          <a:xfrm flipV="1">
            <a:off x="2910600" y="5303160"/>
            <a:ext cx="6606000" cy="720"/>
          </a:xfrm>
          <a:prstGeom prst="straightConnector1">
            <a:avLst/>
          </a:prstGeom>
          <a:ln w="98425">
            <a:solidFill>
              <a:srgbClr val="3f6ec2"/>
            </a:solidFill>
            <a:round/>
          </a:ln>
        </p:spPr>
      </p:cxnSp>
      <p:pic>
        <p:nvPicPr>
          <p:cNvPr id="104" name="Imagen 5" descr=""/>
          <p:cNvPicPr/>
          <p:nvPr/>
        </p:nvPicPr>
        <p:blipFill>
          <a:blip r:embed="rId1"/>
          <a:stretch/>
        </p:blipFill>
        <p:spPr>
          <a:xfrm>
            <a:off x="7439760" y="4052880"/>
            <a:ext cx="867960" cy="867960"/>
          </a:xfrm>
          <a:prstGeom prst="rect">
            <a:avLst/>
          </a:prstGeom>
          <a:ln w="0">
            <a:noFill/>
          </a:ln>
        </p:spPr>
      </p:pic>
      <p:pic>
        <p:nvPicPr>
          <p:cNvPr id="105" name="Imagen 7" descr=""/>
          <p:cNvPicPr/>
          <p:nvPr/>
        </p:nvPicPr>
        <p:blipFill>
          <a:blip r:embed="rId2"/>
          <a:stretch/>
        </p:blipFill>
        <p:spPr>
          <a:xfrm>
            <a:off x="4123800" y="4030920"/>
            <a:ext cx="949320" cy="949320"/>
          </a:xfrm>
          <a:prstGeom prst="rect">
            <a:avLst/>
          </a:prstGeom>
          <a:ln w="0">
            <a:noFill/>
          </a:ln>
        </p:spPr>
      </p:pic>
      <p:cxnSp>
        <p:nvCxnSpPr>
          <p:cNvPr id="106" name="Conector recto 12"/>
          <p:cNvCxnSpPr/>
          <p:nvPr/>
        </p:nvCxnSpPr>
        <p:spPr>
          <a:xfrm>
            <a:off x="3652200" y="5034600"/>
            <a:ext cx="360" cy="548640"/>
          </a:xfrm>
          <a:prstGeom prst="straightConnector1">
            <a:avLst/>
          </a:prstGeom>
          <a:ln w="34925">
            <a:solidFill>
              <a:srgbClr val="ffffff">
                <a:lumMod val="85000"/>
              </a:srgbClr>
            </a:solidFill>
            <a:round/>
          </a:ln>
        </p:spPr>
      </p:cxnSp>
      <p:cxnSp>
        <p:nvCxnSpPr>
          <p:cNvPr id="107" name="Conector recto 18"/>
          <p:cNvCxnSpPr/>
          <p:nvPr/>
        </p:nvCxnSpPr>
        <p:spPr>
          <a:xfrm>
            <a:off x="4685040" y="5029200"/>
            <a:ext cx="360" cy="548640"/>
          </a:xfrm>
          <a:prstGeom prst="straightConnector1">
            <a:avLst/>
          </a:prstGeom>
          <a:ln w="34925">
            <a:solidFill>
              <a:srgbClr val="ffffff">
                <a:lumMod val="85000"/>
              </a:srgbClr>
            </a:solidFill>
            <a:round/>
          </a:ln>
        </p:spPr>
      </p:cxnSp>
      <p:cxnSp>
        <p:nvCxnSpPr>
          <p:cNvPr id="108" name="Conector recto 19"/>
          <p:cNvCxnSpPr/>
          <p:nvPr/>
        </p:nvCxnSpPr>
        <p:spPr>
          <a:xfrm>
            <a:off x="5735160" y="5034600"/>
            <a:ext cx="360" cy="548640"/>
          </a:xfrm>
          <a:prstGeom prst="straightConnector1">
            <a:avLst/>
          </a:prstGeom>
          <a:ln w="34925">
            <a:solidFill>
              <a:srgbClr val="ffffff">
                <a:lumMod val="85000"/>
              </a:srgbClr>
            </a:solidFill>
            <a:round/>
          </a:ln>
        </p:spPr>
      </p:cxnSp>
      <p:cxnSp>
        <p:nvCxnSpPr>
          <p:cNvPr id="109" name="Conector recto 20"/>
          <p:cNvCxnSpPr/>
          <p:nvPr/>
        </p:nvCxnSpPr>
        <p:spPr>
          <a:xfrm>
            <a:off x="6801840" y="5034600"/>
            <a:ext cx="360" cy="548640"/>
          </a:xfrm>
          <a:prstGeom prst="straightConnector1">
            <a:avLst/>
          </a:prstGeom>
          <a:ln w="34925">
            <a:solidFill>
              <a:srgbClr val="ffffff">
                <a:lumMod val="85000"/>
              </a:srgbClr>
            </a:solidFill>
            <a:round/>
          </a:ln>
        </p:spPr>
      </p:cxnSp>
      <p:cxnSp>
        <p:nvCxnSpPr>
          <p:cNvPr id="110" name="Conector recto 21"/>
          <p:cNvCxnSpPr/>
          <p:nvPr/>
        </p:nvCxnSpPr>
        <p:spPr>
          <a:xfrm>
            <a:off x="7832520" y="5034600"/>
            <a:ext cx="360" cy="548640"/>
          </a:xfrm>
          <a:prstGeom prst="straightConnector1">
            <a:avLst/>
          </a:prstGeom>
          <a:ln w="34925">
            <a:solidFill>
              <a:srgbClr val="ffffff">
                <a:lumMod val="85000"/>
              </a:srgbClr>
            </a:solidFill>
            <a:round/>
          </a:ln>
        </p:spPr>
      </p:cxnSp>
      <p:cxnSp>
        <p:nvCxnSpPr>
          <p:cNvPr id="111" name="Conector recto 22"/>
          <p:cNvCxnSpPr/>
          <p:nvPr/>
        </p:nvCxnSpPr>
        <p:spPr>
          <a:xfrm>
            <a:off x="8799840" y="5034600"/>
            <a:ext cx="360" cy="548640"/>
          </a:xfrm>
          <a:prstGeom prst="straightConnector1">
            <a:avLst/>
          </a:prstGeom>
          <a:ln w="34925">
            <a:solidFill>
              <a:srgbClr val="ffffff">
                <a:lumMod val="85000"/>
              </a:srgbClr>
            </a:solidFill>
            <a:round/>
          </a:ln>
        </p:spPr>
      </p:cxnSp>
      <p:sp>
        <p:nvSpPr>
          <p:cNvPr id="112" name="CuadroTexto 24"/>
          <p:cNvSpPr/>
          <p:nvPr/>
        </p:nvSpPr>
        <p:spPr>
          <a:xfrm>
            <a:off x="3159720" y="5810760"/>
            <a:ext cx="985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chemeClr val="lt1"/>
                </a:solidFill>
                <a:latin typeface="Arial"/>
                <a:ea typeface="Arial"/>
              </a:rPr>
              <a:t>1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CuadroTexto 25"/>
          <p:cNvSpPr/>
          <p:nvPr/>
        </p:nvSpPr>
        <p:spPr>
          <a:xfrm>
            <a:off x="4172040" y="5810040"/>
            <a:ext cx="985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chemeClr val="lt1"/>
                </a:solidFill>
                <a:latin typeface="Arial"/>
                <a:ea typeface="Arial"/>
              </a:rPr>
              <a:t>2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CuadroTexto 26"/>
          <p:cNvSpPr/>
          <p:nvPr/>
        </p:nvSpPr>
        <p:spPr>
          <a:xfrm>
            <a:off x="5242680" y="5810400"/>
            <a:ext cx="985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chemeClr val="lt1"/>
                </a:solidFill>
                <a:latin typeface="Arial"/>
                <a:ea typeface="Arial"/>
              </a:rPr>
              <a:t>3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CuadroTexto 27"/>
          <p:cNvSpPr/>
          <p:nvPr/>
        </p:nvSpPr>
        <p:spPr>
          <a:xfrm>
            <a:off x="6309360" y="5810400"/>
            <a:ext cx="985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chemeClr val="lt1"/>
                </a:solidFill>
                <a:latin typeface="Arial"/>
                <a:ea typeface="Arial"/>
              </a:rPr>
              <a:t>4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CuadroTexto 28"/>
          <p:cNvSpPr/>
          <p:nvPr/>
        </p:nvSpPr>
        <p:spPr>
          <a:xfrm>
            <a:off x="7358040" y="5810400"/>
            <a:ext cx="985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chemeClr val="lt1"/>
                </a:solidFill>
                <a:latin typeface="Arial"/>
                <a:ea typeface="Arial"/>
              </a:rPr>
              <a:t>5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CuadroTexto 29"/>
          <p:cNvSpPr/>
          <p:nvPr/>
        </p:nvSpPr>
        <p:spPr>
          <a:xfrm>
            <a:off x="8307000" y="5810040"/>
            <a:ext cx="985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chemeClr val="lt1"/>
                </a:solidFill>
                <a:latin typeface="Arial"/>
                <a:ea typeface="Arial"/>
              </a:rPr>
              <a:t>6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Imagen 110" descr=""/>
          <p:cNvPicPr/>
          <p:nvPr/>
        </p:nvPicPr>
        <p:blipFill>
          <a:blip r:embed="rId3"/>
          <a:stretch/>
        </p:blipFill>
        <p:spPr>
          <a:xfrm>
            <a:off x="5392800" y="4306680"/>
            <a:ext cx="711360" cy="711360"/>
          </a:xfrm>
          <a:prstGeom prst="rect">
            <a:avLst/>
          </a:prstGeom>
          <a:ln w="0">
            <a:noFill/>
          </a:ln>
        </p:spPr>
      </p:pic>
      <p:pic>
        <p:nvPicPr>
          <p:cNvPr id="119" name="Imagen 113" descr=""/>
          <p:cNvPicPr/>
          <p:nvPr/>
        </p:nvPicPr>
        <p:blipFill>
          <a:blip r:embed="rId4"/>
          <a:stretch/>
        </p:blipFill>
        <p:spPr>
          <a:xfrm>
            <a:off x="3296520" y="4190760"/>
            <a:ext cx="711360" cy="711360"/>
          </a:xfrm>
          <a:prstGeom prst="rect">
            <a:avLst/>
          </a:prstGeom>
          <a:ln w="0">
            <a:noFill/>
          </a:ln>
        </p:spPr>
      </p:pic>
      <p:pic>
        <p:nvPicPr>
          <p:cNvPr id="120" name="Imagen 115" descr=""/>
          <p:cNvPicPr/>
          <p:nvPr/>
        </p:nvPicPr>
        <p:blipFill>
          <a:blip r:embed="rId5"/>
          <a:stretch/>
        </p:blipFill>
        <p:spPr>
          <a:xfrm>
            <a:off x="6406560" y="4238280"/>
            <a:ext cx="711360" cy="711360"/>
          </a:xfrm>
          <a:prstGeom prst="rect">
            <a:avLst/>
          </a:prstGeom>
          <a:ln w="0">
            <a:noFill/>
          </a:ln>
        </p:spPr>
      </p:pic>
      <p:pic>
        <p:nvPicPr>
          <p:cNvPr id="121" name="Imagen 118" descr=""/>
          <p:cNvPicPr/>
          <p:nvPr/>
        </p:nvPicPr>
        <p:blipFill>
          <a:blip r:embed="rId6"/>
          <a:stretch/>
        </p:blipFill>
        <p:spPr>
          <a:xfrm>
            <a:off x="8452440" y="4156560"/>
            <a:ext cx="764280" cy="76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Embeddings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24" name="CuadroTexto 1"/>
          <p:cNvSpPr/>
          <p:nvPr/>
        </p:nvSpPr>
        <p:spPr>
          <a:xfrm>
            <a:off x="716760" y="1634760"/>
            <a:ext cx="985500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Vectores de alta dimensionalidad van a representar palabras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En el siguiente ejemplo vemos que cada palabra está representada en un vector en tres dimensiones. Hay algunas de las palabras que van a estar más próximas a otras.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Los modelos de Deep Learning inicializan estos vectores con pesos aleatorios y se van ajustando los pesos en cada iteración de backpropagation, por lo que cada espacio dimensional de los embeddings se adaptará a cada problema de ML.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Picture 2" descr="Word embeddings: the (very) basics – Around the word"/>
          <p:cNvPicPr/>
          <p:nvPr/>
        </p:nvPicPr>
        <p:blipFill>
          <a:blip r:embed="rId1"/>
          <a:stretch/>
        </p:blipFill>
        <p:spPr>
          <a:xfrm>
            <a:off x="3820320" y="3297600"/>
            <a:ext cx="4118760" cy="309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Embeddings en Tensorflow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128" name="Imagen 3" descr=""/>
          <p:cNvPicPr/>
          <p:nvPr/>
        </p:nvPicPr>
        <p:blipFill>
          <a:blip r:embed="rId1"/>
          <a:stretch/>
        </p:blipFill>
        <p:spPr>
          <a:xfrm>
            <a:off x="6095880" y="5015520"/>
            <a:ext cx="5378760" cy="1532880"/>
          </a:xfrm>
          <a:prstGeom prst="rect">
            <a:avLst/>
          </a:prstGeom>
          <a:ln w="0">
            <a:noFill/>
          </a:ln>
        </p:spPr>
      </p:pic>
      <p:sp>
        <p:nvSpPr>
          <p:cNvPr id="129" name="CuadroTexto 7"/>
          <p:cNvSpPr/>
          <p:nvPr/>
        </p:nvSpPr>
        <p:spPr>
          <a:xfrm>
            <a:off x="716760" y="1634760"/>
            <a:ext cx="9855000" cy="39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Tokenizar (vocab_size)</a:t>
            </a: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: montar un diccionario con el vocabulario de cada observación, donde cada palabra la identificamos con un número.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Vectorizar</a:t>
            </a: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: Pasar cada frase a su secuencia de tokens numéricos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1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Padding (sequence length)</a:t>
            </a: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: pasamos cada frase a una secuencia de números siempre fija. Habrá que fijar la longitud fija de cada frase, mediante padding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Establecemos la capa de </a:t>
            </a:r>
            <a:r>
              <a:rPr b="1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embedding</a:t>
            </a: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, donde ponemos la cantidad máxima del vocabulario, esto podría ser de palabras que al menos salgan 20 veces. Cuanto más vocabulario, más se ajusta el entrenamiento a todas las palabras de train. Configuramos el embedding size, que es la longitud del vector que va a representar cada palabra. Una buena práctica es usar la raíz cuarta del tamaño del vocabulario.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Después una PoolingLayer que pasará todos los datos a una única dimensión.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Las capas que necesitemos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Capa de Output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Capa Embedding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32" name="Rectángulo 1"/>
          <p:cNvSpPr/>
          <p:nvPr/>
        </p:nvSpPr>
        <p:spPr>
          <a:xfrm>
            <a:off x="963360" y="1857600"/>
            <a:ext cx="573840" cy="1571040"/>
          </a:xfrm>
          <a:prstGeom prst="rect">
            <a:avLst/>
          </a:prstGeom>
          <a:solidFill>
            <a:schemeClr val="accent2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3" name="CuadroTexto 6"/>
          <p:cNvSpPr/>
          <p:nvPr/>
        </p:nvSpPr>
        <p:spPr>
          <a:xfrm>
            <a:off x="61560" y="2322720"/>
            <a:ext cx="1046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N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samples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CuadroTexto 8"/>
          <p:cNvSpPr/>
          <p:nvPr/>
        </p:nvSpPr>
        <p:spPr>
          <a:xfrm>
            <a:off x="727200" y="1505160"/>
            <a:ext cx="1046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Text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ectángulo 9"/>
          <p:cNvSpPr/>
          <p:nvPr/>
        </p:nvSpPr>
        <p:spPr>
          <a:xfrm>
            <a:off x="2202840" y="1857600"/>
            <a:ext cx="1716840" cy="157104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6" name="CuadroTexto 10"/>
          <p:cNvSpPr/>
          <p:nvPr/>
        </p:nvSpPr>
        <p:spPr>
          <a:xfrm>
            <a:off x="2007360" y="1505160"/>
            <a:ext cx="2107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Tokenizamos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Flecha: a la derecha 2"/>
          <p:cNvSpPr/>
          <p:nvPr/>
        </p:nvSpPr>
        <p:spPr>
          <a:xfrm>
            <a:off x="1659240" y="2430360"/>
            <a:ext cx="406080" cy="307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8" name="Rectángulo 11"/>
          <p:cNvSpPr/>
          <p:nvPr/>
        </p:nvSpPr>
        <p:spPr>
          <a:xfrm>
            <a:off x="4806360" y="1857600"/>
            <a:ext cx="2549880" cy="157104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9" name="Flecha: a la derecha 12"/>
          <p:cNvSpPr/>
          <p:nvPr/>
        </p:nvSpPr>
        <p:spPr>
          <a:xfrm>
            <a:off x="4178880" y="2430360"/>
            <a:ext cx="406080" cy="307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0" name="CuadroTexto 13"/>
          <p:cNvSpPr/>
          <p:nvPr/>
        </p:nvSpPr>
        <p:spPr>
          <a:xfrm>
            <a:off x="5027400" y="1505160"/>
            <a:ext cx="2107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s-ES" sz="1400" spc="-1" strike="noStrike">
                <a:solidFill>
                  <a:srgbClr val="ff0000"/>
                </a:solidFill>
                <a:latin typeface="Arial"/>
                <a:ea typeface="Arial"/>
              </a:rPr>
              <a:t>Vocabulary size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Rectángulo 14"/>
          <p:cNvSpPr/>
          <p:nvPr/>
        </p:nvSpPr>
        <p:spPr>
          <a:xfrm>
            <a:off x="8418240" y="4759920"/>
            <a:ext cx="2549880" cy="157104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2" name="Flecha: a la derecha 15"/>
          <p:cNvSpPr/>
          <p:nvPr/>
        </p:nvSpPr>
        <p:spPr>
          <a:xfrm rot="5400000">
            <a:off x="9336600" y="3636000"/>
            <a:ext cx="406080" cy="307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3" name="Rectángulo 17"/>
          <p:cNvSpPr/>
          <p:nvPr/>
        </p:nvSpPr>
        <p:spPr>
          <a:xfrm>
            <a:off x="8197200" y="4962240"/>
            <a:ext cx="2549880" cy="157104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4" name="Rectángulo 18"/>
          <p:cNvSpPr/>
          <p:nvPr/>
        </p:nvSpPr>
        <p:spPr>
          <a:xfrm>
            <a:off x="7862040" y="5176440"/>
            <a:ext cx="2549880" cy="157104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5" name="CuadroTexto 19"/>
          <p:cNvSpPr/>
          <p:nvPr/>
        </p:nvSpPr>
        <p:spPr>
          <a:xfrm>
            <a:off x="10490760" y="4869720"/>
            <a:ext cx="2107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s-ES" sz="1400" spc="-1" strike="noStrike">
                <a:solidFill>
                  <a:srgbClr val="ff0000"/>
                </a:solidFill>
                <a:latin typeface="Arial"/>
                <a:ea typeface="Arial"/>
              </a:rPr>
              <a:t>Embedding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CuadroTexto 4"/>
          <p:cNvSpPr/>
          <p:nvPr/>
        </p:nvSpPr>
        <p:spPr>
          <a:xfrm>
            <a:off x="255960" y="3863160"/>
            <a:ext cx="1988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[ “frase 1 con texto”,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  ”</a:t>
            </a: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otra frase”            ]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CuadroTexto 21"/>
          <p:cNvSpPr/>
          <p:nvPr/>
        </p:nvSpPr>
        <p:spPr>
          <a:xfrm>
            <a:off x="2270160" y="3849120"/>
            <a:ext cx="2321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[[ “frase”, “1”, “con”, “texto],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 </a:t>
            </a: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[ ”otra”, “frase”      ] ]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CuadroTexto 22"/>
          <p:cNvSpPr/>
          <p:nvPr/>
        </p:nvSpPr>
        <p:spPr>
          <a:xfrm>
            <a:off x="5149080" y="3843000"/>
            <a:ext cx="1716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[ 1,   2,   3,   4]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[ 5,   1]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CuadroTexto 23"/>
          <p:cNvSpPr/>
          <p:nvPr/>
        </p:nvSpPr>
        <p:spPr>
          <a:xfrm>
            <a:off x="5466600" y="2060280"/>
            <a:ext cx="171684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{ “frase”: 1,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  “</a:t>
            </a: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1”: 2,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  “</a:t>
            </a: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con”: 3,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  “</a:t>
            </a: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texto”: 4,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  “</a:t>
            </a: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otra”: 5 }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CuadroTexto 24"/>
          <p:cNvSpPr/>
          <p:nvPr/>
        </p:nvSpPr>
        <p:spPr>
          <a:xfrm>
            <a:off x="34200" y="4554360"/>
            <a:ext cx="2431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chemeClr val="lt1"/>
                </a:solidFill>
                <a:latin typeface="Arial"/>
                <a:ea typeface="Arial"/>
              </a:rPr>
              <a:t>(n_samples x 1)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Flecha: a la derecha 25"/>
          <p:cNvSpPr/>
          <p:nvPr/>
        </p:nvSpPr>
        <p:spPr>
          <a:xfrm>
            <a:off x="7610400" y="2397240"/>
            <a:ext cx="406080" cy="307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52" name="Rectángulo 26"/>
          <p:cNvSpPr/>
          <p:nvPr/>
        </p:nvSpPr>
        <p:spPr>
          <a:xfrm>
            <a:off x="8273520" y="1870920"/>
            <a:ext cx="2549880" cy="1571040"/>
          </a:xfrm>
          <a:prstGeom prst="rect">
            <a:avLst/>
          </a:prstGeom>
          <a:solidFill>
            <a:srgbClr val="4472c4"/>
          </a:solidFill>
          <a:ln>
            <a:solidFill>
              <a:srgbClr val="32549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E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53" name="CuadroTexto 27"/>
          <p:cNvSpPr/>
          <p:nvPr/>
        </p:nvSpPr>
        <p:spPr>
          <a:xfrm>
            <a:off x="8425800" y="1490760"/>
            <a:ext cx="2107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s-ES" sz="14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Arial"/>
                <a:ea typeface="Arial"/>
              </a:rPr>
              <a:t>Padding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CuadroTexto 29"/>
          <p:cNvSpPr/>
          <p:nvPr/>
        </p:nvSpPr>
        <p:spPr>
          <a:xfrm>
            <a:off x="10109880" y="1035360"/>
            <a:ext cx="1716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[ 1,   2,   3,   4]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[ 0,   0,   5,   1]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CuadroTexto 28"/>
          <p:cNvSpPr/>
          <p:nvPr/>
        </p:nvSpPr>
        <p:spPr>
          <a:xfrm>
            <a:off x="7423200" y="3952080"/>
            <a:ext cx="4768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chemeClr val="lt1"/>
                </a:solidFill>
                <a:latin typeface="Arial"/>
                <a:ea typeface="Arial"/>
              </a:rPr>
              <a:t>(n_samples x sequence_length)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CuadroTexto 31"/>
          <p:cNvSpPr/>
          <p:nvPr/>
        </p:nvSpPr>
        <p:spPr>
          <a:xfrm>
            <a:off x="8339400" y="5379480"/>
            <a:ext cx="171684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{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1: [1.21, 0.3, 2.2],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2: [-0.21, 1.7, 0.01]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…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chemeClr val="lt1"/>
                </a:solidFill>
                <a:latin typeface="Arial"/>
                <a:ea typeface="Arial"/>
              </a:rPr>
              <a:t>} 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CuadroTexto 32"/>
          <p:cNvSpPr/>
          <p:nvPr/>
        </p:nvSpPr>
        <p:spPr>
          <a:xfrm>
            <a:off x="1920600" y="6303960"/>
            <a:ext cx="6162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s-ES" sz="2000" spc="-1" strike="noStrike">
                <a:solidFill>
                  <a:schemeClr val="lt1"/>
                </a:solidFill>
                <a:latin typeface="Arial"/>
                <a:ea typeface="Arial"/>
              </a:rPr>
              <a:t>(n_samples x sequence_length x embedding)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CuadroTexto 33"/>
          <p:cNvSpPr/>
          <p:nvPr/>
        </p:nvSpPr>
        <p:spPr>
          <a:xfrm>
            <a:off x="10395000" y="1823040"/>
            <a:ext cx="2107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s-ES" sz="1400" spc="-1" strike="noStrike">
                <a:solidFill>
                  <a:srgbClr val="ff0000"/>
                </a:solidFill>
                <a:latin typeface="Arial"/>
                <a:ea typeface="Arial"/>
              </a:rPr>
              <a:t>sequence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1400" spc="-1" strike="noStrike">
                <a:solidFill>
                  <a:srgbClr val="ff0000"/>
                </a:solidFill>
                <a:latin typeface="Arial"/>
                <a:ea typeface="Arial"/>
              </a:rPr>
              <a:t>length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16760" y="309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4400" spc="-1" strike="noStrike">
                <a:solidFill>
                  <a:schemeClr val="lt1"/>
                </a:solidFill>
                <a:latin typeface="Calibri"/>
                <a:ea typeface="Calibri"/>
              </a:rPr>
              <a:t>Bibliografía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102;p3"/>
          <p:cNvSpPr/>
          <p:nvPr/>
        </p:nvSpPr>
        <p:spPr>
          <a:xfrm>
            <a:off x="497520" y="763200"/>
            <a:ext cx="89640" cy="65412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61" name="CuadroTexto 1"/>
          <p:cNvSpPr/>
          <p:nvPr/>
        </p:nvSpPr>
        <p:spPr>
          <a:xfrm>
            <a:off x="716760" y="1965960"/>
            <a:ext cx="89492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 u="sng">
                <a:solidFill>
                  <a:srgbClr val="0563c1"/>
                </a:solidFill>
                <a:uFillTx/>
                <a:latin typeface="Arial"/>
                <a:ea typeface="Arial"/>
                <a:hlinkClick r:id="rId1"/>
              </a:rPr>
              <a:t>https://learning.oreilly.com/library/view/ai-and-machine/9781492078180/ch06.html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ES" sz="1400" spc="-1" strike="noStrike" u="sng">
                <a:solidFill>
                  <a:srgbClr val="0563c1"/>
                </a:solidFill>
                <a:uFillTx/>
                <a:latin typeface="Arial"/>
                <a:ea typeface="Arial"/>
                <a:hlinkClick r:id="rId2"/>
              </a:rPr>
              <a:t>https://medium.com/@kadircanercetin/intuitive-understanding-of-word-embeddings-with-keras-6435fe92a57b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3560</TotalTime>
  <Application>LibreOffice/24.2.7.2$Linux_X86_64 LibreOffice_project/420$Build-2</Application>
  <AppVersion>15.0000</AppVersion>
  <Words>624</Words>
  <Paragraphs>104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2020-10-12T14:09:12Z</dcterms:created>
  <dc:creator>Daniel Ortiz</dc:creator>
  <dc:description/>
  <dc:language>es-ES</dc:language>
  <cp:lastModifiedBy/>
  <dcterms:modified xsi:type="dcterms:W3CDTF">2026-01-12T12:22:19Z</dcterms:modified>
  <cp:revision>36</cp:revision>
  <dc:subject/>
  <dc:title>Machine Learning Conceptos Aprendizaje Supervisado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Widescreen</vt:lpwstr>
  </property>
  <property fmtid="{D5CDD505-2E9C-101B-9397-08002B2CF9AE}" pid="4" name="Slides">
    <vt:i4>11</vt:i4>
  </property>
</Properties>
</file>